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1B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0"/>
            <a:ext cx="11247120" cy="1371600"/>
          </a:xfrm>
          <a:prstGeom prst="rect">
            <a:avLst/>
          </a:prstGeom>
          <a:noFill/>
        </p:spPr>
        <p:txBody>
          <a:bodyPr wrap="square">
            <a:spAutoFit/>
          </a:bodyPr>
          <a:lstStyle/>
          <a:p>
            <a:pPr algn="ctr">
              <a:defRPr sz="6000" b="1" i="0">
                <a:solidFill>
                  <a:srgbClr val="1B2A4E"/>
                </a:solidFill>
              </a:defRPr>
            </a:pPr>
            <a:r>
              <a:t>AI Life Recommender</a:t>
            </a:r>
          </a:p>
        </p:txBody>
      </p:sp>
      <p:sp>
        <p:nvSpPr>
          <p:cNvPr id="4" name="TextBox 3"/>
          <p:cNvSpPr txBox="1"/>
          <p:nvPr/>
        </p:nvSpPr>
        <p:spPr>
          <a:xfrm>
            <a:off x="457200" y="3108960"/>
            <a:ext cx="11247120" cy="914400"/>
          </a:xfrm>
          <a:prstGeom prst="rect">
            <a:avLst/>
          </a:prstGeom>
          <a:noFill/>
        </p:spPr>
        <p:txBody>
          <a:bodyPr wrap="square">
            <a:spAutoFit/>
          </a:bodyPr>
          <a:lstStyle/>
          <a:p>
            <a:pPr algn="ctr">
              <a:defRPr sz="2200" b="0" i="0">
                <a:solidFill>
                  <a:srgbClr val="555555"/>
                </a:solidFill>
              </a:defRPr>
            </a:pPr>
            <a:r>
              <a:t>Context-Aware Multi-Domain Recommendations</a:t>
            </a:r>
          </a:p>
          <a:p>
            <a:pPr algn="ctr">
              <a:defRPr sz="2200" b="0" i="0">
                <a:solidFill>
                  <a:srgbClr val="555555"/>
                </a:solidFill>
              </a:defRPr>
            </a:pPr>
            <a:r>
              <a:t>with Hybrid Collaborative Filtering and Agentic LLM Orchestration</a:t>
            </a:r>
          </a:p>
        </p:txBody>
      </p:sp>
      <p:sp>
        <p:nvSpPr>
          <p:cNvPr id="5" name="TextBox 4"/>
          <p:cNvSpPr txBox="1"/>
          <p:nvPr/>
        </p:nvSpPr>
        <p:spPr>
          <a:xfrm>
            <a:off x="457200" y="4937760"/>
            <a:ext cx="11247120" cy="457200"/>
          </a:xfrm>
          <a:prstGeom prst="rect">
            <a:avLst/>
          </a:prstGeom>
          <a:noFill/>
        </p:spPr>
        <p:txBody>
          <a:bodyPr wrap="square">
            <a:spAutoFit/>
          </a:bodyPr>
          <a:lstStyle/>
          <a:p>
            <a:pPr algn="ctr">
              <a:defRPr sz="2000" b="1" i="0">
                <a:solidFill>
                  <a:srgbClr val="1B2A4E"/>
                </a:solidFill>
              </a:defRPr>
            </a:pPr>
            <a:r>
              <a:t>Adam Sabry   ·   Rammy Baroudi   ·   Stephen Taylor</a:t>
            </a:r>
          </a:p>
        </p:txBody>
      </p:sp>
      <p:sp>
        <p:nvSpPr>
          <p:cNvPr id="6" name="TextBox 5"/>
          <p:cNvSpPr txBox="1"/>
          <p:nvPr/>
        </p:nvSpPr>
        <p:spPr>
          <a:xfrm>
            <a:off x="457200" y="5486400"/>
            <a:ext cx="11247120" cy="365760"/>
          </a:xfrm>
          <a:prstGeom prst="rect">
            <a:avLst/>
          </a:prstGeom>
          <a:noFill/>
        </p:spPr>
        <p:txBody>
          <a:bodyPr wrap="square">
            <a:spAutoFit/>
          </a:bodyPr>
          <a:lstStyle/>
          <a:p>
            <a:pPr algn="ctr">
              <a:defRPr sz="1400" b="0" i="1">
                <a:solidFill>
                  <a:srgbClr val="555555"/>
                </a:solidFill>
              </a:defRPr>
            </a:pPr>
            <a:r>
              <a:t>CMPE 256   ·   Recommender Systems   ·   San José State University</a:t>
            </a:r>
          </a:p>
        </p:txBody>
      </p:sp>
      <p:sp>
        <p:nvSpPr>
          <p:cNvPr id="7" name="Rectangle 6"/>
          <p:cNvSpPr/>
          <p:nvPr/>
        </p:nvSpPr>
        <p:spPr>
          <a:xfrm>
            <a:off x="0" y="6583680"/>
            <a:ext cx="12191695" cy="274320"/>
          </a:xfrm>
          <a:prstGeom prst="rect">
            <a:avLst/>
          </a:prstGeom>
          <a:solidFill>
            <a:srgbClr val="E58A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548640"/>
          </a:xfrm>
          <a:prstGeom prst="rect">
            <a:avLst/>
          </a:prstGeom>
          <a:noFill/>
        </p:spPr>
        <p:txBody>
          <a:bodyPr wrap="none">
            <a:spAutoFit/>
          </a:bodyPr>
          <a:lstStyle/>
          <a:p>
            <a:pPr>
              <a:defRPr sz="2600" b="1">
                <a:solidFill>
                  <a:srgbClr val="FFFFFF"/>
                </a:solidFill>
              </a:defRPr>
            </a:pPr>
            <a:r>
              <a:t>The Problem</a:t>
            </a:r>
          </a:p>
        </p:txBody>
      </p:sp>
      <p:sp>
        <p:nvSpPr>
          <p:cNvPr id="4" name="TextBox 3"/>
          <p:cNvSpPr txBox="1"/>
          <p:nvPr/>
        </p:nvSpPr>
        <p:spPr>
          <a:xfrm>
            <a:off x="548640" y="1097280"/>
            <a:ext cx="11064240" cy="1280160"/>
          </a:xfrm>
          <a:prstGeom prst="rect">
            <a:avLst/>
          </a:prstGeom>
          <a:noFill/>
        </p:spPr>
        <p:txBody>
          <a:bodyPr wrap="square">
            <a:spAutoFit/>
          </a:bodyPr>
          <a:lstStyle/>
          <a:p>
            <a:pPr>
              <a:defRPr sz="1800" b="0" i="0">
                <a:solidFill>
                  <a:srgbClr val="1B2A4E"/>
                </a:solidFill>
              </a:defRPr>
            </a:pPr>
            <a:r>
              <a:t>Production recommenders pick within a single domain — movies, products, or songs — and optimize for rating prediction. The real decision a person faces is rarely single-domain and almost never captured by a rating matrix.</a:t>
            </a:r>
          </a:p>
        </p:txBody>
      </p:sp>
      <p:sp>
        <p:nvSpPr>
          <p:cNvPr id="5" name="Rounded Rectangle 4"/>
          <p:cNvSpPr/>
          <p:nvPr/>
        </p:nvSpPr>
        <p:spPr>
          <a:xfrm>
            <a:off x="548640" y="2651760"/>
            <a:ext cx="2697480" cy="3383280"/>
          </a:xfrm>
          <a:prstGeom prst="roundRect">
            <a:avLst/>
          </a:prstGeom>
          <a:solidFill>
            <a:srgbClr val="FFFFFF"/>
          </a:solidFill>
          <a:ln w="22860">
            <a:solidFill>
              <a:srgbClr val="4DA8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651760"/>
            <a:ext cx="164592" cy="3383280"/>
          </a:xfrm>
          <a:prstGeom prst="rect">
            <a:avLst/>
          </a:prstGeom>
          <a:solidFill>
            <a:srgbClr val="4DA8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788920"/>
            <a:ext cx="2331720" cy="411480"/>
          </a:xfrm>
          <a:prstGeom prst="rect">
            <a:avLst/>
          </a:prstGeom>
          <a:noFill/>
        </p:spPr>
        <p:txBody>
          <a:bodyPr wrap="none">
            <a:spAutoFit/>
          </a:bodyPr>
          <a:lstStyle/>
          <a:p>
            <a:pPr>
              <a:defRPr sz="1600" b="1">
                <a:solidFill>
                  <a:srgbClr val="1B2A4E"/>
                </a:solidFill>
              </a:defRPr>
            </a:pPr>
            <a:r>
              <a:t>Single domain</a:t>
            </a:r>
          </a:p>
        </p:txBody>
      </p:sp>
      <p:sp>
        <p:nvSpPr>
          <p:cNvPr id="8" name="TextBox 7"/>
          <p:cNvSpPr txBox="1"/>
          <p:nvPr/>
        </p:nvSpPr>
        <p:spPr>
          <a:xfrm>
            <a:off x="822960" y="3200400"/>
            <a:ext cx="2331720" cy="2743200"/>
          </a:xfrm>
          <a:prstGeom prst="rect">
            <a:avLst/>
          </a:prstGeom>
          <a:noFill/>
        </p:spPr>
        <p:txBody>
          <a:bodyPr wrap="square">
            <a:spAutoFit/>
          </a:bodyPr>
          <a:lstStyle/>
          <a:p>
            <a:pPr>
              <a:spcAft>
                <a:spcPts val="400"/>
              </a:spcAft>
              <a:defRPr sz="1400">
                <a:solidFill>
                  <a:srgbClr val="555555"/>
                </a:solidFill>
              </a:defRPr>
            </a:pPr>
            <a:r>
              <a:t>Netflix picks movies.</a:t>
            </a:r>
          </a:p>
          <a:p>
            <a:pPr>
              <a:spcAft>
                <a:spcPts val="400"/>
              </a:spcAft>
              <a:defRPr sz="1400">
                <a:solidFill>
                  <a:srgbClr val="555555"/>
                </a:solidFill>
              </a:defRPr>
            </a:pPr>
            <a:r>
              <a:t>Amazon picks products.</a:t>
            </a:r>
          </a:p>
          <a:p>
            <a:pPr>
              <a:spcAft>
                <a:spcPts val="400"/>
              </a:spcAft>
              <a:defRPr sz="1400">
                <a:solidFill>
                  <a:srgbClr val="555555"/>
                </a:solidFill>
              </a:defRPr>
            </a:pPr>
            <a:r>
              <a:t>Spotify picks songs.</a:t>
            </a:r>
          </a:p>
          <a:p>
            <a:pPr>
              <a:spcAft>
                <a:spcPts val="400"/>
              </a:spcAft>
              <a:defRPr sz="1400">
                <a:solidFill>
                  <a:srgbClr val="555555"/>
                </a:solidFill>
              </a:defRPr>
            </a:pPr>
          </a:p>
          <a:p>
            <a:pPr>
              <a:spcAft>
                <a:spcPts val="400"/>
              </a:spcAft>
              <a:defRPr sz="1400">
                <a:solidFill>
                  <a:srgbClr val="555555"/>
                </a:solidFill>
              </a:defRPr>
            </a:pPr>
            <a:r>
              <a:t>Nobody picks the whole evening.</a:t>
            </a:r>
          </a:p>
        </p:txBody>
      </p:sp>
      <p:sp>
        <p:nvSpPr>
          <p:cNvPr id="9" name="Rounded Rectangle 8"/>
          <p:cNvSpPr/>
          <p:nvPr/>
        </p:nvSpPr>
        <p:spPr>
          <a:xfrm>
            <a:off x="3429000" y="2651760"/>
            <a:ext cx="2697480" cy="3383280"/>
          </a:xfrm>
          <a:prstGeom prst="roundRect">
            <a:avLst/>
          </a:prstGeom>
          <a:solidFill>
            <a:srgbClr val="FFFFFF"/>
          </a:solidFill>
          <a:ln w="22860">
            <a:solidFill>
              <a:srgbClr val="E58A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429000" y="2651760"/>
            <a:ext cx="164592" cy="3383280"/>
          </a:xfrm>
          <a:prstGeom prst="rect">
            <a:avLst/>
          </a:prstGeom>
          <a:solidFill>
            <a:srgbClr val="E58A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03320" y="2788920"/>
            <a:ext cx="2331720" cy="411480"/>
          </a:xfrm>
          <a:prstGeom prst="rect">
            <a:avLst/>
          </a:prstGeom>
          <a:noFill/>
        </p:spPr>
        <p:txBody>
          <a:bodyPr wrap="none">
            <a:spAutoFit/>
          </a:bodyPr>
          <a:lstStyle/>
          <a:p>
            <a:pPr>
              <a:defRPr sz="1600" b="1">
                <a:solidFill>
                  <a:srgbClr val="1B2A4E"/>
                </a:solidFill>
              </a:defRPr>
            </a:pPr>
            <a:r>
              <a:t>No mood signal</a:t>
            </a:r>
          </a:p>
        </p:txBody>
      </p:sp>
      <p:sp>
        <p:nvSpPr>
          <p:cNvPr id="12" name="TextBox 11"/>
          <p:cNvSpPr txBox="1"/>
          <p:nvPr/>
        </p:nvSpPr>
        <p:spPr>
          <a:xfrm>
            <a:off x="3703320" y="3200400"/>
            <a:ext cx="2331720" cy="2743200"/>
          </a:xfrm>
          <a:prstGeom prst="rect">
            <a:avLst/>
          </a:prstGeom>
          <a:noFill/>
        </p:spPr>
        <p:txBody>
          <a:bodyPr wrap="square">
            <a:spAutoFit/>
          </a:bodyPr>
          <a:lstStyle/>
          <a:p>
            <a:pPr>
              <a:spcAft>
                <a:spcPts val="400"/>
              </a:spcAft>
              <a:defRPr sz="1400">
                <a:solidFill>
                  <a:srgbClr val="555555"/>
                </a:solidFill>
              </a:defRPr>
            </a:pPr>
            <a:r>
              <a:t>User-item rating matrices have no place for "tired but want to feel productive."</a:t>
            </a:r>
          </a:p>
          <a:p>
            <a:pPr>
              <a:spcAft>
                <a:spcPts val="400"/>
              </a:spcAft>
              <a:defRPr sz="1400">
                <a:solidFill>
                  <a:srgbClr val="555555"/>
                </a:solidFill>
              </a:defRPr>
            </a:pPr>
          </a:p>
          <a:p>
            <a:pPr>
              <a:spcAft>
                <a:spcPts val="400"/>
              </a:spcAft>
              <a:defRPr sz="1400">
                <a:solidFill>
                  <a:srgbClr val="555555"/>
                </a:solidFill>
              </a:defRPr>
            </a:pPr>
            <a:r>
              <a:t>Context is invisible to CF.</a:t>
            </a:r>
          </a:p>
        </p:txBody>
      </p:sp>
      <p:sp>
        <p:nvSpPr>
          <p:cNvPr id="13" name="Rounded Rectangle 12"/>
          <p:cNvSpPr/>
          <p:nvPr/>
        </p:nvSpPr>
        <p:spPr>
          <a:xfrm>
            <a:off x="6309360" y="2651760"/>
            <a:ext cx="2697480" cy="3383280"/>
          </a:xfrm>
          <a:prstGeom prst="roundRect">
            <a:avLst/>
          </a:prstGeom>
          <a:solidFill>
            <a:srgbClr val="FFFFFF"/>
          </a:solidFill>
          <a:ln w="22860">
            <a:solidFill>
              <a:srgbClr val="1B2A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309360" y="2651760"/>
            <a:ext cx="164592" cy="3383280"/>
          </a:xfrm>
          <a:prstGeom prst="rect">
            <a:avLst/>
          </a:prstGeom>
          <a:solidFill>
            <a:srgbClr val="1B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0" y="2788920"/>
            <a:ext cx="2331720" cy="411480"/>
          </a:xfrm>
          <a:prstGeom prst="rect">
            <a:avLst/>
          </a:prstGeom>
          <a:noFill/>
        </p:spPr>
        <p:txBody>
          <a:bodyPr wrap="none">
            <a:spAutoFit/>
          </a:bodyPr>
          <a:lstStyle/>
          <a:p>
            <a:pPr>
              <a:defRPr sz="1600" b="1">
                <a:solidFill>
                  <a:srgbClr val="1B2A4E"/>
                </a:solidFill>
              </a:defRPr>
            </a:pPr>
            <a:r>
              <a:t>No cross-domain coherence</a:t>
            </a:r>
          </a:p>
        </p:txBody>
      </p:sp>
      <p:sp>
        <p:nvSpPr>
          <p:cNvPr id="16" name="TextBox 15"/>
          <p:cNvSpPr txBox="1"/>
          <p:nvPr/>
        </p:nvSpPr>
        <p:spPr>
          <a:xfrm>
            <a:off x="6583680" y="3200400"/>
            <a:ext cx="2331720" cy="2743200"/>
          </a:xfrm>
          <a:prstGeom prst="rect">
            <a:avLst/>
          </a:prstGeom>
          <a:noFill/>
        </p:spPr>
        <p:txBody>
          <a:bodyPr wrap="square">
            <a:spAutoFit/>
          </a:bodyPr>
          <a:lstStyle/>
          <a:p>
            <a:pPr>
              <a:spcAft>
                <a:spcPts val="400"/>
              </a:spcAft>
              <a:defRPr sz="1400">
                <a:solidFill>
                  <a:srgbClr val="555555"/>
                </a:solidFill>
              </a:defRPr>
            </a:pPr>
            <a:r>
              <a:t>Independent picks per domain produce mismatched packages — a three-hour movie next to a two-hour recipe.</a:t>
            </a:r>
          </a:p>
        </p:txBody>
      </p:sp>
      <p:sp>
        <p:nvSpPr>
          <p:cNvPr id="17" name="Rounded Rectangle 16"/>
          <p:cNvSpPr/>
          <p:nvPr/>
        </p:nvSpPr>
        <p:spPr>
          <a:xfrm>
            <a:off x="9189720" y="2651760"/>
            <a:ext cx="2697480" cy="3383280"/>
          </a:xfrm>
          <a:prstGeom prst="roundRect">
            <a:avLst/>
          </a:prstGeom>
          <a:solidFill>
            <a:srgbClr val="FFFFFF"/>
          </a:solidFill>
          <a:ln w="22860">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189720" y="2651760"/>
            <a:ext cx="164592" cy="3383280"/>
          </a:xfrm>
          <a:prstGeom prst="rect">
            <a:avLst/>
          </a:prstGeom>
          <a:solidFill>
            <a:srgbClr val="5555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64040" y="2788920"/>
            <a:ext cx="2331720" cy="411480"/>
          </a:xfrm>
          <a:prstGeom prst="rect">
            <a:avLst/>
          </a:prstGeom>
          <a:noFill/>
        </p:spPr>
        <p:txBody>
          <a:bodyPr wrap="none">
            <a:spAutoFit/>
          </a:bodyPr>
          <a:lstStyle/>
          <a:p>
            <a:pPr>
              <a:defRPr sz="1600" b="1">
                <a:solidFill>
                  <a:srgbClr val="1B2A4E"/>
                </a:solidFill>
              </a:defRPr>
            </a:pPr>
            <a:r>
              <a:t>Empty domains</a:t>
            </a:r>
          </a:p>
        </p:txBody>
      </p:sp>
      <p:sp>
        <p:nvSpPr>
          <p:cNvPr id="20" name="TextBox 19"/>
          <p:cNvSpPr txBox="1"/>
          <p:nvPr/>
        </p:nvSpPr>
        <p:spPr>
          <a:xfrm>
            <a:off x="9464040" y="3200400"/>
            <a:ext cx="2331720" cy="2743200"/>
          </a:xfrm>
          <a:prstGeom prst="rect">
            <a:avLst/>
          </a:prstGeom>
          <a:noFill/>
        </p:spPr>
        <p:txBody>
          <a:bodyPr wrap="square">
            <a:spAutoFit/>
          </a:bodyPr>
          <a:lstStyle/>
          <a:p>
            <a:pPr>
              <a:spcAft>
                <a:spcPts val="400"/>
              </a:spcAft>
              <a:defRPr sz="1400">
                <a:solidFill>
                  <a:srgbClr val="555555"/>
                </a:solidFill>
              </a:defRPr>
            </a:pPr>
            <a:r>
              <a:t>No public rating dataset exists for daily habits, so CF cannot recommend them at all.</a:t>
            </a:r>
          </a:p>
        </p:txBody>
      </p:sp>
      <p:sp>
        <p:nvSpPr>
          <p:cNvPr id="21" name="TextBox 20"/>
          <p:cNvSpPr txBox="1"/>
          <p:nvPr/>
        </p:nvSpPr>
        <p:spPr>
          <a:xfrm>
            <a:off x="457200" y="6492240"/>
            <a:ext cx="11247120" cy="274320"/>
          </a:xfrm>
          <a:prstGeom prst="rect">
            <a:avLst/>
          </a:prstGeom>
          <a:noFill/>
        </p:spPr>
        <p:txBody>
          <a:bodyPr wrap="none">
            <a:spAutoFit/>
          </a:bodyPr>
          <a:lstStyle/>
          <a:p>
            <a:pPr>
              <a:defRPr sz="1000">
                <a:solidFill>
                  <a:srgbClr val="555555"/>
                </a:solidFill>
              </a:defRPr>
            </a:pPr>
            <a:r>
              <a:t>AI Life Recommender   ·   CMPE 256   ·   2 / 22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548640"/>
          </a:xfrm>
          <a:prstGeom prst="rect">
            <a:avLst/>
          </a:prstGeom>
          <a:noFill/>
        </p:spPr>
        <p:txBody>
          <a:bodyPr wrap="none">
            <a:spAutoFit/>
          </a:bodyPr>
          <a:lstStyle/>
          <a:p>
            <a:pPr>
              <a:defRPr sz="2600" b="1">
                <a:solidFill>
                  <a:srgbClr val="FFFFFF"/>
                </a:solidFill>
              </a:defRPr>
            </a:pPr>
            <a:r>
              <a:t>System Architecture</a:t>
            </a:r>
          </a:p>
        </p:txBody>
      </p:sp>
      <p:sp>
        <p:nvSpPr>
          <p:cNvPr id="4" name="TextBox 3"/>
          <p:cNvSpPr txBox="1"/>
          <p:nvPr/>
        </p:nvSpPr>
        <p:spPr>
          <a:xfrm>
            <a:off x="457200" y="868680"/>
            <a:ext cx="11247120" cy="365760"/>
          </a:xfrm>
          <a:prstGeom prst="rect">
            <a:avLst/>
          </a:prstGeom>
          <a:noFill/>
        </p:spPr>
        <p:txBody>
          <a:bodyPr wrap="none">
            <a:spAutoFit/>
          </a:bodyPr>
          <a:lstStyle/>
          <a:p>
            <a:pPr>
              <a:defRPr sz="1400" i="1">
                <a:solidFill>
                  <a:srgbClr val="555555"/>
                </a:solidFill>
              </a:defRPr>
            </a:pPr>
            <a:r>
              <a:t>End-to-end pipeline from user intent to coherent recommendation</a:t>
            </a:r>
          </a:p>
        </p:txBody>
      </p:sp>
      <p:pic>
        <p:nvPicPr>
          <p:cNvPr id="5" name="Picture 4" descr="architecture.png"/>
          <p:cNvPicPr>
            <a:picLocks noChangeAspect="1"/>
          </p:cNvPicPr>
          <p:nvPr/>
        </p:nvPicPr>
        <p:blipFill>
          <a:blip r:embed="rId2"/>
          <a:stretch>
            <a:fillRect/>
          </a:stretch>
        </p:blipFill>
        <p:spPr>
          <a:xfrm>
            <a:off x="365760" y="1325880"/>
            <a:ext cx="11430000" cy="6646642"/>
          </a:xfrm>
          <a:prstGeom prst="rect">
            <a:avLst/>
          </a:prstGeom>
        </p:spPr>
      </p:pic>
      <p:sp>
        <p:nvSpPr>
          <p:cNvPr id="6" name="TextBox 5"/>
          <p:cNvSpPr txBox="1"/>
          <p:nvPr/>
        </p:nvSpPr>
        <p:spPr>
          <a:xfrm>
            <a:off x="457200" y="6492240"/>
            <a:ext cx="11247120" cy="274320"/>
          </a:xfrm>
          <a:prstGeom prst="rect">
            <a:avLst/>
          </a:prstGeom>
          <a:noFill/>
        </p:spPr>
        <p:txBody>
          <a:bodyPr wrap="none">
            <a:spAutoFit/>
          </a:bodyPr>
          <a:lstStyle/>
          <a:p>
            <a:pPr>
              <a:defRPr sz="1000">
                <a:solidFill>
                  <a:srgbClr val="555555"/>
                </a:solidFill>
              </a:defRPr>
            </a:pPr>
            <a:r>
              <a:t>AI Life Recommender   ·   CMPE 256   ·   3 / 22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548640"/>
          </a:xfrm>
          <a:prstGeom prst="rect">
            <a:avLst/>
          </a:prstGeom>
          <a:noFill/>
        </p:spPr>
        <p:txBody>
          <a:bodyPr wrap="none">
            <a:spAutoFit/>
          </a:bodyPr>
          <a:lstStyle/>
          <a:p>
            <a:pPr>
              <a:defRPr sz="2600" b="1">
                <a:solidFill>
                  <a:srgbClr val="FFFFFF"/>
                </a:solidFill>
              </a:defRPr>
            </a:pPr>
            <a:r>
              <a:t>Datasets — Three Domains, One User Space</a:t>
            </a:r>
          </a:p>
        </p:txBody>
      </p:sp>
      <p:graphicFrame>
        <p:nvGraphicFramePr>
          <p:cNvPr id="4" name="Table 3"/>
          <p:cNvGraphicFramePr>
            <a:graphicFrameLocks noGrp="1"/>
          </p:cNvGraphicFramePr>
          <p:nvPr/>
        </p:nvGraphicFramePr>
        <p:xfrm>
          <a:off x="548640" y="1371600"/>
          <a:ext cx="11064240" cy="2743200"/>
        </p:xfrm>
        <a:graphic>
          <a:graphicData uri="http://schemas.openxmlformats.org/drawingml/2006/table">
            <a:tbl>
              <a:tblPr firstRow="1" bandRow="1">
                <a:tableStyleId>{5C22544A-7EE6-4342-B048-85BDC9FD1C3A}</a:tableStyleId>
              </a:tblPr>
              <a:tblGrid>
                <a:gridCol w="2212848"/>
                <a:gridCol w="2212848"/>
                <a:gridCol w="2212848"/>
                <a:gridCol w="2212848"/>
                <a:gridCol w="2212848"/>
              </a:tblGrid>
              <a:tr h="548640">
                <a:tc>
                  <a:txBody>
                    <a:bodyPr/>
                    <a:lstStyle/>
                    <a:p>
                      <a:pPr>
                        <a:defRPr sz="1400" b="1">
                          <a:solidFill>
                            <a:srgbClr val="FFFFFF"/>
                          </a:solidFill>
                        </a:defRPr>
                      </a:pPr>
                      <a:r>
                        <a:t>Domain</a:t>
                      </a:r>
                    </a:p>
                  </a:txBody>
                  <a:tcPr marL="73152" marR="73152" marT="54864" marB="54864">
                    <a:solidFill>
                      <a:srgbClr val="1B2A4E"/>
                    </a:solidFill>
                  </a:tcPr>
                </a:tc>
                <a:tc>
                  <a:txBody>
                    <a:bodyPr/>
                    <a:lstStyle/>
                    <a:p>
                      <a:pPr>
                        <a:defRPr sz="1400" b="1">
                          <a:solidFill>
                            <a:srgbClr val="FFFFFF"/>
                          </a:solidFill>
                        </a:defRPr>
                      </a:pPr>
                      <a:r>
                        <a:t>Source</a:t>
                      </a:r>
                    </a:p>
                  </a:txBody>
                  <a:tcPr marL="73152" marR="73152" marT="54864" marB="54864">
                    <a:solidFill>
                      <a:srgbClr val="1B2A4E"/>
                    </a:solidFill>
                  </a:tcPr>
                </a:tc>
                <a:tc>
                  <a:txBody>
                    <a:bodyPr/>
                    <a:lstStyle/>
                    <a:p>
                      <a:pPr>
                        <a:defRPr sz="1400" b="1">
                          <a:solidFill>
                            <a:srgbClr val="FFFFFF"/>
                          </a:solidFill>
                        </a:defRPr>
                      </a:pPr>
                      <a:r>
                        <a:t>Interactions</a:t>
                      </a:r>
                    </a:p>
                  </a:txBody>
                  <a:tcPr marL="73152" marR="73152" marT="54864" marB="54864">
                    <a:solidFill>
                      <a:srgbClr val="1B2A4E"/>
                    </a:solidFill>
                  </a:tcPr>
                </a:tc>
                <a:tc>
                  <a:txBody>
                    <a:bodyPr/>
                    <a:lstStyle/>
                    <a:p>
                      <a:pPr>
                        <a:defRPr sz="1400" b="1">
                          <a:solidFill>
                            <a:srgbClr val="FFFFFF"/>
                          </a:solidFill>
                        </a:defRPr>
                      </a:pPr>
                      <a:r>
                        <a:t>Items</a:t>
                      </a:r>
                    </a:p>
                  </a:txBody>
                  <a:tcPr marL="73152" marR="73152" marT="54864" marB="54864">
                    <a:solidFill>
                      <a:srgbClr val="1B2A4E"/>
                    </a:solidFill>
                  </a:tcPr>
                </a:tc>
                <a:tc>
                  <a:txBody>
                    <a:bodyPr/>
                    <a:lstStyle/>
                    <a:p>
                      <a:pPr>
                        <a:defRPr sz="1400" b="1">
                          <a:solidFill>
                            <a:srgbClr val="FFFFFF"/>
                          </a:solidFill>
                        </a:defRPr>
                      </a:pPr>
                      <a:r>
                        <a:t>Density</a:t>
                      </a:r>
                    </a:p>
                  </a:txBody>
                  <a:tcPr marL="73152" marR="73152" marT="54864" marB="54864">
                    <a:solidFill>
                      <a:srgbClr val="1B2A4E"/>
                    </a:solidFill>
                  </a:tcPr>
                </a:tc>
              </a:tr>
              <a:tr h="548640">
                <a:tc>
                  <a:txBody>
                    <a:bodyPr/>
                    <a:lstStyle/>
                    <a:p>
                      <a:pPr>
                        <a:defRPr sz="1400">
                          <a:solidFill>
                            <a:srgbClr val="1B2A4E"/>
                          </a:solidFill>
                        </a:defRPr>
                      </a:pPr>
                      <a:r>
                        <a:t>Entertainment</a:t>
                      </a:r>
                    </a:p>
                  </a:txBody>
                  <a:tcPr marL="73152" marR="73152" marT="54864" marB="54864">
                    <a:solidFill>
                      <a:srgbClr val="FFFFFF"/>
                    </a:solidFill>
                  </a:tcPr>
                </a:tc>
                <a:tc>
                  <a:txBody>
                    <a:bodyPr/>
                    <a:lstStyle/>
                    <a:p>
                      <a:pPr>
                        <a:defRPr sz="1400">
                          <a:solidFill>
                            <a:srgbClr val="1B2A4E"/>
                          </a:solidFill>
                        </a:defRPr>
                      </a:pPr>
                      <a:r>
                        <a:t>MovieLens 25M</a:t>
                      </a:r>
                    </a:p>
                  </a:txBody>
                  <a:tcPr marL="73152" marR="73152" marT="54864" marB="54864">
                    <a:solidFill>
                      <a:srgbClr val="FFFFFF"/>
                    </a:solidFill>
                  </a:tcPr>
                </a:tc>
                <a:tc>
                  <a:txBody>
                    <a:bodyPr/>
                    <a:lstStyle/>
                    <a:p>
                      <a:pPr>
                        <a:defRPr sz="1400">
                          <a:solidFill>
                            <a:srgbClr val="1B2A4E"/>
                          </a:solidFill>
                        </a:defRPr>
                      </a:pPr>
                      <a:r>
                        <a:t>≈ 25,000,000</a:t>
                      </a:r>
                    </a:p>
                  </a:txBody>
                  <a:tcPr marL="73152" marR="73152" marT="54864" marB="54864">
                    <a:solidFill>
                      <a:srgbClr val="FFFFFF"/>
                    </a:solidFill>
                  </a:tcPr>
                </a:tc>
                <a:tc>
                  <a:txBody>
                    <a:bodyPr/>
                    <a:lstStyle/>
                    <a:p>
                      <a:pPr>
                        <a:defRPr sz="1400">
                          <a:solidFill>
                            <a:srgbClr val="1B2A4E"/>
                          </a:solidFill>
                        </a:defRPr>
                      </a:pPr>
                      <a:r>
                        <a:t>62,000</a:t>
                      </a:r>
                    </a:p>
                  </a:txBody>
                  <a:tcPr marL="73152" marR="73152" marT="54864" marB="54864">
                    <a:solidFill>
                      <a:srgbClr val="FFFFFF"/>
                    </a:solidFill>
                  </a:tcPr>
                </a:tc>
                <a:tc>
                  <a:txBody>
                    <a:bodyPr/>
                    <a:lstStyle/>
                    <a:p>
                      <a:pPr>
                        <a:defRPr sz="1400">
                          <a:solidFill>
                            <a:srgbClr val="1B2A4E"/>
                          </a:solidFill>
                        </a:defRPr>
                      </a:pPr>
                      <a:r>
                        <a:t>≈ 0.25 %</a:t>
                      </a:r>
                    </a:p>
                  </a:txBody>
                  <a:tcPr marL="73152" marR="73152" marT="54864" marB="54864">
                    <a:solidFill>
                      <a:srgbClr val="FFFFFF"/>
                    </a:solidFill>
                  </a:tcPr>
                </a:tc>
              </a:tr>
              <a:tr h="548640">
                <a:tc>
                  <a:txBody>
                    <a:bodyPr/>
                    <a:lstStyle/>
                    <a:p>
                      <a:pPr>
                        <a:defRPr sz="1400">
                          <a:solidFill>
                            <a:srgbClr val="1B2A4E"/>
                          </a:solidFill>
                        </a:defRPr>
                      </a:pPr>
                      <a:r>
                        <a:t>Food</a:t>
                      </a:r>
                    </a:p>
                  </a:txBody>
                  <a:tcPr marL="73152" marR="73152" marT="54864" marB="54864">
                    <a:solidFill>
                      <a:srgbClr val="F7F4ED"/>
                    </a:solidFill>
                  </a:tcPr>
                </a:tc>
                <a:tc>
                  <a:txBody>
                    <a:bodyPr/>
                    <a:lstStyle/>
                    <a:p>
                      <a:pPr>
                        <a:defRPr sz="1400">
                          <a:solidFill>
                            <a:srgbClr val="1B2A4E"/>
                          </a:solidFill>
                        </a:defRPr>
                      </a:pPr>
                      <a:r>
                        <a:t>Food.com Recipes</a:t>
                      </a:r>
                    </a:p>
                  </a:txBody>
                  <a:tcPr marL="73152" marR="73152" marT="54864" marB="54864">
                    <a:solidFill>
                      <a:srgbClr val="F7F4ED"/>
                    </a:solidFill>
                  </a:tcPr>
                </a:tc>
                <a:tc>
                  <a:txBody>
                    <a:bodyPr/>
                    <a:lstStyle/>
                    <a:p>
                      <a:pPr>
                        <a:defRPr sz="1400">
                          <a:solidFill>
                            <a:srgbClr val="1B2A4E"/>
                          </a:solidFill>
                        </a:defRPr>
                      </a:pPr>
                      <a:r>
                        <a:t>≈ 1,000,000</a:t>
                      </a:r>
                    </a:p>
                  </a:txBody>
                  <a:tcPr marL="73152" marR="73152" marT="54864" marB="54864">
                    <a:solidFill>
                      <a:srgbClr val="F7F4ED"/>
                    </a:solidFill>
                  </a:tcPr>
                </a:tc>
                <a:tc>
                  <a:txBody>
                    <a:bodyPr/>
                    <a:lstStyle/>
                    <a:p>
                      <a:pPr>
                        <a:defRPr sz="1400">
                          <a:solidFill>
                            <a:srgbClr val="1B2A4E"/>
                          </a:solidFill>
                        </a:defRPr>
                      </a:pPr>
                      <a:r>
                        <a:t>230,000</a:t>
                      </a:r>
                    </a:p>
                  </a:txBody>
                  <a:tcPr marL="73152" marR="73152" marT="54864" marB="54864">
                    <a:solidFill>
                      <a:srgbClr val="F7F4ED"/>
                    </a:solidFill>
                  </a:tcPr>
                </a:tc>
                <a:tc>
                  <a:txBody>
                    <a:bodyPr/>
                    <a:lstStyle/>
                    <a:p>
                      <a:pPr>
                        <a:defRPr sz="1400">
                          <a:solidFill>
                            <a:srgbClr val="1B2A4E"/>
                          </a:solidFill>
                        </a:defRPr>
                      </a:pPr>
                      <a:r>
                        <a:t>&lt; 0.05 %</a:t>
                      </a:r>
                    </a:p>
                  </a:txBody>
                  <a:tcPr marL="73152" marR="73152" marT="54864" marB="54864">
                    <a:solidFill>
                      <a:srgbClr val="F7F4ED"/>
                    </a:solidFill>
                  </a:tcPr>
                </a:tc>
              </a:tr>
              <a:tr h="548640">
                <a:tc>
                  <a:txBody>
                    <a:bodyPr/>
                    <a:lstStyle/>
                    <a:p>
                      <a:pPr>
                        <a:defRPr sz="1400">
                          <a:solidFill>
                            <a:srgbClr val="1B2A4E"/>
                          </a:solidFill>
                        </a:defRPr>
                      </a:pPr>
                      <a:r>
                        <a:t>Learning</a:t>
                      </a:r>
                    </a:p>
                  </a:txBody>
                  <a:tcPr marL="73152" marR="73152" marT="54864" marB="54864">
                    <a:solidFill>
                      <a:srgbClr val="FFFFFF"/>
                    </a:solidFill>
                  </a:tcPr>
                </a:tc>
                <a:tc>
                  <a:txBody>
                    <a:bodyPr/>
                    <a:lstStyle/>
                    <a:p>
                      <a:pPr>
                        <a:defRPr sz="1400">
                          <a:solidFill>
                            <a:srgbClr val="1B2A4E"/>
                          </a:solidFill>
                        </a:defRPr>
                      </a:pPr>
                      <a:r>
                        <a:t>Amazon Books</a:t>
                      </a:r>
                    </a:p>
                  </a:txBody>
                  <a:tcPr marL="73152" marR="73152" marT="54864" marB="54864">
                    <a:solidFill>
                      <a:srgbClr val="FFFFFF"/>
                    </a:solidFill>
                  </a:tcPr>
                </a:tc>
                <a:tc>
                  <a:txBody>
                    <a:bodyPr/>
                    <a:lstStyle/>
                    <a:p>
                      <a:pPr>
                        <a:defRPr sz="1400">
                          <a:solidFill>
                            <a:srgbClr val="1B2A4E"/>
                          </a:solidFill>
                        </a:defRPr>
                      </a:pPr>
                      <a:r>
                        <a:t>≈ 3,000,000</a:t>
                      </a:r>
                    </a:p>
                  </a:txBody>
                  <a:tcPr marL="73152" marR="73152" marT="54864" marB="54864">
                    <a:solidFill>
                      <a:srgbClr val="FFFFFF"/>
                    </a:solidFill>
                  </a:tcPr>
                </a:tc>
                <a:tc>
                  <a:txBody>
                    <a:bodyPr/>
                    <a:lstStyle/>
                    <a:p>
                      <a:pPr>
                        <a:defRPr sz="1400">
                          <a:solidFill>
                            <a:srgbClr val="1B2A4E"/>
                          </a:solidFill>
                        </a:defRPr>
                      </a:pPr>
                      <a:r>
                        <a:t>200,000</a:t>
                      </a:r>
                    </a:p>
                  </a:txBody>
                  <a:tcPr marL="73152" marR="73152" marT="54864" marB="54864">
                    <a:solidFill>
                      <a:srgbClr val="FFFFFF"/>
                    </a:solidFill>
                  </a:tcPr>
                </a:tc>
                <a:tc>
                  <a:txBody>
                    <a:bodyPr/>
                    <a:lstStyle/>
                    <a:p>
                      <a:pPr>
                        <a:defRPr sz="1400">
                          <a:solidFill>
                            <a:srgbClr val="1B2A4E"/>
                          </a:solidFill>
                        </a:defRPr>
                      </a:pPr>
                      <a:r>
                        <a:t>≈ 0.015 %</a:t>
                      </a:r>
                    </a:p>
                  </a:txBody>
                  <a:tcPr marL="73152" marR="73152" marT="54864" marB="54864">
                    <a:solidFill>
                      <a:srgbClr val="FFFFFF"/>
                    </a:solidFill>
                  </a:tcPr>
                </a:tc>
              </a:tr>
              <a:tr h="548640">
                <a:tc>
                  <a:txBody>
                    <a:bodyPr/>
                    <a:lstStyle/>
                    <a:p>
                      <a:pPr>
                        <a:defRPr sz="1400">
                          <a:solidFill>
                            <a:srgbClr val="1B2A4E"/>
                          </a:solidFill>
                        </a:defRPr>
                      </a:pPr>
                      <a:r>
                        <a:t>Habit</a:t>
                      </a:r>
                    </a:p>
                  </a:txBody>
                  <a:tcPr marL="73152" marR="73152" marT="54864" marB="54864">
                    <a:solidFill>
                      <a:srgbClr val="F7F4ED"/>
                    </a:solidFill>
                  </a:tcPr>
                </a:tc>
                <a:tc>
                  <a:txBody>
                    <a:bodyPr/>
                    <a:lstStyle/>
                    <a:p>
                      <a:pPr>
                        <a:defRPr sz="1400">
                          <a:solidFill>
                            <a:srgbClr val="1B2A4E"/>
                          </a:solidFill>
                        </a:defRPr>
                      </a:pPr>
                      <a:r>
                        <a:t>— no public data —</a:t>
                      </a:r>
                    </a:p>
                  </a:txBody>
                  <a:tcPr marL="73152" marR="73152" marT="54864" marB="54864">
                    <a:solidFill>
                      <a:srgbClr val="F7F4ED"/>
                    </a:solidFill>
                  </a:tcPr>
                </a:tc>
                <a:tc>
                  <a:txBody>
                    <a:bodyPr/>
                    <a:lstStyle/>
                    <a:p>
                      <a:pPr>
                        <a:defRPr sz="1400">
                          <a:solidFill>
                            <a:srgbClr val="1B2A4E"/>
                          </a:solidFill>
                        </a:defRPr>
                      </a:pPr>
                      <a:r>
                        <a:t>—</a:t>
                      </a:r>
                    </a:p>
                  </a:txBody>
                  <a:tcPr marL="73152" marR="73152" marT="54864" marB="54864">
                    <a:solidFill>
                      <a:srgbClr val="F7F4ED"/>
                    </a:solidFill>
                  </a:tcPr>
                </a:tc>
                <a:tc>
                  <a:txBody>
                    <a:bodyPr/>
                    <a:lstStyle/>
                    <a:p>
                      <a:pPr>
                        <a:defRPr sz="1400">
                          <a:solidFill>
                            <a:srgbClr val="1B2A4E"/>
                          </a:solidFill>
                        </a:defRPr>
                      </a:pPr>
                      <a:r>
                        <a:t>—</a:t>
                      </a:r>
                    </a:p>
                  </a:txBody>
                  <a:tcPr marL="73152" marR="73152" marT="54864" marB="54864">
                    <a:solidFill>
                      <a:srgbClr val="F7F4ED"/>
                    </a:solidFill>
                  </a:tcPr>
                </a:tc>
                <a:tc>
                  <a:txBody>
                    <a:bodyPr/>
                    <a:lstStyle/>
                    <a:p>
                      <a:pPr>
                        <a:defRPr sz="1400">
                          <a:solidFill>
                            <a:srgbClr val="1B2A4E"/>
                          </a:solidFill>
                        </a:defRPr>
                      </a:pPr>
                      <a:r>
                        <a:t>LLM-only domain</a:t>
                      </a:r>
                    </a:p>
                  </a:txBody>
                  <a:tcPr marL="73152" marR="73152" marT="54864" marB="54864">
                    <a:solidFill>
                      <a:srgbClr val="F7F4ED"/>
                    </a:solidFill>
                  </a:tcPr>
                </a:tc>
              </a:tr>
            </a:tbl>
          </a:graphicData>
        </a:graphic>
      </p:graphicFrame>
      <p:sp>
        <p:nvSpPr>
          <p:cNvPr id="5" name="TextBox 4"/>
          <p:cNvSpPr txBox="1"/>
          <p:nvPr/>
        </p:nvSpPr>
        <p:spPr>
          <a:xfrm>
            <a:off x="548640" y="4572000"/>
            <a:ext cx="11064240" cy="1463040"/>
          </a:xfrm>
          <a:prstGeom prst="rect">
            <a:avLst/>
          </a:prstGeom>
          <a:noFill/>
        </p:spPr>
        <p:txBody>
          <a:bodyPr wrap="square">
            <a:spAutoFit/>
          </a:bodyPr>
          <a:lstStyle/>
          <a:p>
            <a:pPr>
              <a:defRPr sz="1500" b="0" i="0">
                <a:solidFill>
                  <a:srgbClr val="1B2A4E"/>
                </a:solidFill>
              </a:defRPr>
            </a:pPr>
            <a:r>
              <a:t>Combined corpus ≈ 29 million interactions. The joint user space is sparser than any single domain because most users participate in only one — this is the architectural motivation for a shared user embedding rather than three independent collaborative filters.</a:t>
            </a:r>
          </a:p>
        </p:txBody>
      </p:sp>
      <p:sp>
        <p:nvSpPr>
          <p:cNvPr id="6" name="Rounded Rectangle 5"/>
          <p:cNvSpPr/>
          <p:nvPr/>
        </p:nvSpPr>
        <p:spPr>
          <a:xfrm>
            <a:off x="1371600" y="5669280"/>
            <a:ext cx="2194560" cy="914400"/>
          </a:xfrm>
          <a:prstGeom prst="roundRect">
            <a:avLst/>
          </a:prstGeom>
          <a:solidFill>
            <a:srgbClr val="ECF1F9"/>
          </a:solidFill>
          <a:ln w="15240">
            <a:solidFill>
              <a:srgbClr val="1B2A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5806440"/>
            <a:ext cx="2194560" cy="822960"/>
          </a:xfrm>
          <a:prstGeom prst="rect">
            <a:avLst/>
          </a:prstGeom>
          <a:noFill/>
        </p:spPr>
        <p:txBody>
          <a:bodyPr wrap="none">
            <a:spAutoFit/>
          </a:bodyPr>
          <a:lstStyle/>
          <a:p>
            <a:pPr algn="ctr">
              <a:defRPr sz="3600" b="1">
                <a:solidFill>
                  <a:srgbClr val="1B2A4E"/>
                </a:solidFill>
              </a:defRPr>
            </a:pPr>
            <a:r>
              <a:t>29M</a:t>
            </a:r>
          </a:p>
        </p:txBody>
      </p:sp>
      <p:sp>
        <p:nvSpPr>
          <p:cNvPr id="8" name="TextBox 7"/>
          <p:cNvSpPr txBox="1"/>
          <p:nvPr/>
        </p:nvSpPr>
        <p:spPr>
          <a:xfrm>
            <a:off x="1371600" y="6629400"/>
            <a:ext cx="2194560" cy="457200"/>
          </a:xfrm>
          <a:prstGeom prst="rect">
            <a:avLst/>
          </a:prstGeom>
          <a:noFill/>
        </p:spPr>
        <p:txBody>
          <a:bodyPr wrap="none">
            <a:spAutoFit/>
          </a:bodyPr>
          <a:lstStyle/>
          <a:p>
            <a:pPr algn="ctr">
              <a:defRPr sz="1300">
                <a:solidFill>
                  <a:srgbClr val="555555"/>
                </a:solidFill>
              </a:defRPr>
            </a:pPr>
            <a:r>
              <a:t>interactions</a:t>
            </a:r>
          </a:p>
        </p:txBody>
      </p:sp>
      <p:sp>
        <p:nvSpPr>
          <p:cNvPr id="9" name="Rounded Rectangle 8"/>
          <p:cNvSpPr/>
          <p:nvPr/>
        </p:nvSpPr>
        <p:spPr>
          <a:xfrm>
            <a:off x="4114800" y="5669280"/>
            <a:ext cx="2194560" cy="914400"/>
          </a:xfrm>
          <a:prstGeom prst="roundRect">
            <a:avLst/>
          </a:prstGeom>
          <a:solidFill>
            <a:srgbClr val="ECF1F9"/>
          </a:solidFill>
          <a:ln w="15240">
            <a:solidFill>
              <a:srgbClr val="E58A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0" y="5806440"/>
            <a:ext cx="2194560" cy="822960"/>
          </a:xfrm>
          <a:prstGeom prst="rect">
            <a:avLst/>
          </a:prstGeom>
          <a:noFill/>
        </p:spPr>
        <p:txBody>
          <a:bodyPr wrap="none">
            <a:spAutoFit/>
          </a:bodyPr>
          <a:lstStyle/>
          <a:p>
            <a:pPr algn="ctr">
              <a:defRPr sz="3600" b="1">
                <a:solidFill>
                  <a:srgbClr val="E58A2D"/>
                </a:solidFill>
              </a:defRPr>
            </a:pPr>
            <a:r>
              <a:t>3</a:t>
            </a:r>
          </a:p>
        </p:txBody>
      </p:sp>
      <p:sp>
        <p:nvSpPr>
          <p:cNvPr id="11" name="TextBox 10"/>
          <p:cNvSpPr txBox="1"/>
          <p:nvPr/>
        </p:nvSpPr>
        <p:spPr>
          <a:xfrm>
            <a:off x="4114800" y="6629400"/>
            <a:ext cx="2194560" cy="457200"/>
          </a:xfrm>
          <a:prstGeom prst="rect">
            <a:avLst/>
          </a:prstGeom>
          <a:noFill/>
        </p:spPr>
        <p:txBody>
          <a:bodyPr wrap="none">
            <a:spAutoFit/>
          </a:bodyPr>
          <a:lstStyle/>
          <a:p>
            <a:pPr algn="ctr">
              <a:defRPr sz="1300">
                <a:solidFill>
                  <a:srgbClr val="555555"/>
                </a:solidFill>
              </a:defRPr>
            </a:pPr>
            <a:r>
              <a:t>rating domains</a:t>
            </a:r>
          </a:p>
        </p:txBody>
      </p:sp>
      <p:sp>
        <p:nvSpPr>
          <p:cNvPr id="12" name="Rounded Rectangle 11"/>
          <p:cNvSpPr/>
          <p:nvPr/>
        </p:nvSpPr>
        <p:spPr>
          <a:xfrm>
            <a:off x="6858000" y="5669280"/>
            <a:ext cx="2194560" cy="914400"/>
          </a:xfrm>
          <a:prstGeom prst="roundRect">
            <a:avLst/>
          </a:prstGeom>
          <a:solidFill>
            <a:srgbClr val="ECF1F9"/>
          </a:solidFill>
          <a:ln w="15240">
            <a:solidFill>
              <a:srgbClr val="4DA8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0" y="5806440"/>
            <a:ext cx="2194560" cy="822960"/>
          </a:xfrm>
          <a:prstGeom prst="rect">
            <a:avLst/>
          </a:prstGeom>
          <a:noFill/>
        </p:spPr>
        <p:txBody>
          <a:bodyPr wrap="none">
            <a:spAutoFit/>
          </a:bodyPr>
          <a:lstStyle/>
          <a:p>
            <a:pPr algn="ctr">
              <a:defRPr sz="3600" b="1">
                <a:solidFill>
                  <a:srgbClr val="4DA8B3"/>
                </a:solidFill>
              </a:defRPr>
            </a:pPr>
            <a:r>
              <a:t>1</a:t>
            </a:r>
          </a:p>
        </p:txBody>
      </p:sp>
      <p:sp>
        <p:nvSpPr>
          <p:cNvPr id="14" name="TextBox 13"/>
          <p:cNvSpPr txBox="1"/>
          <p:nvPr/>
        </p:nvSpPr>
        <p:spPr>
          <a:xfrm>
            <a:off x="6858000" y="6629400"/>
            <a:ext cx="2194560" cy="457200"/>
          </a:xfrm>
          <a:prstGeom prst="rect">
            <a:avLst/>
          </a:prstGeom>
          <a:noFill/>
        </p:spPr>
        <p:txBody>
          <a:bodyPr wrap="none">
            <a:spAutoFit/>
          </a:bodyPr>
          <a:lstStyle/>
          <a:p>
            <a:pPr algn="ctr">
              <a:defRPr sz="1300">
                <a:solidFill>
                  <a:srgbClr val="555555"/>
                </a:solidFill>
              </a:defRPr>
            </a:pPr>
            <a:r>
              <a:t>shared user space</a:t>
            </a:r>
          </a:p>
        </p:txBody>
      </p:sp>
      <p:sp>
        <p:nvSpPr>
          <p:cNvPr id="15" name="Rounded Rectangle 14"/>
          <p:cNvSpPr/>
          <p:nvPr/>
        </p:nvSpPr>
        <p:spPr>
          <a:xfrm>
            <a:off x="9601200" y="5669280"/>
            <a:ext cx="2194560" cy="914400"/>
          </a:xfrm>
          <a:prstGeom prst="roundRect">
            <a:avLst/>
          </a:prstGeom>
          <a:solidFill>
            <a:srgbClr val="ECF1F9"/>
          </a:solidFill>
          <a:ln w="15240">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0" y="5806440"/>
            <a:ext cx="2194560" cy="822960"/>
          </a:xfrm>
          <a:prstGeom prst="rect">
            <a:avLst/>
          </a:prstGeom>
          <a:noFill/>
        </p:spPr>
        <p:txBody>
          <a:bodyPr wrap="none">
            <a:spAutoFit/>
          </a:bodyPr>
          <a:lstStyle/>
          <a:p>
            <a:pPr algn="ctr">
              <a:defRPr sz="3600" b="1">
                <a:solidFill>
                  <a:srgbClr val="555555"/>
                </a:solidFill>
              </a:defRPr>
            </a:pPr>
            <a:r>
              <a:t>+1</a:t>
            </a:r>
          </a:p>
        </p:txBody>
      </p:sp>
      <p:sp>
        <p:nvSpPr>
          <p:cNvPr id="17" name="TextBox 16"/>
          <p:cNvSpPr txBox="1"/>
          <p:nvPr/>
        </p:nvSpPr>
        <p:spPr>
          <a:xfrm>
            <a:off x="9601200" y="6629400"/>
            <a:ext cx="2194560" cy="457200"/>
          </a:xfrm>
          <a:prstGeom prst="rect">
            <a:avLst/>
          </a:prstGeom>
          <a:noFill/>
        </p:spPr>
        <p:txBody>
          <a:bodyPr wrap="none">
            <a:spAutoFit/>
          </a:bodyPr>
          <a:lstStyle/>
          <a:p>
            <a:pPr algn="ctr">
              <a:defRPr sz="1300">
                <a:solidFill>
                  <a:srgbClr val="555555"/>
                </a:solidFill>
              </a:defRPr>
            </a:pPr>
            <a:r>
              <a:t>LLM-only domain</a:t>
            </a:r>
          </a:p>
        </p:txBody>
      </p:sp>
      <p:sp>
        <p:nvSpPr>
          <p:cNvPr id="18" name="TextBox 17"/>
          <p:cNvSpPr txBox="1"/>
          <p:nvPr/>
        </p:nvSpPr>
        <p:spPr>
          <a:xfrm>
            <a:off x="457200" y="6492240"/>
            <a:ext cx="11247120" cy="274320"/>
          </a:xfrm>
          <a:prstGeom prst="rect">
            <a:avLst/>
          </a:prstGeom>
          <a:noFill/>
        </p:spPr>
        <p:txBody>
          <a:bodyPr wrap="none">
            <a:spAutoFit/>
          </a:bodyPr>
          <a:lstStyle/>
          <a:p>
            <a:pPr>
              <a:defRPr sz="1000">
                <a:solidFill>
                  <a:srgbClr val="555555"/>
                </a:solidFill>
              </a:defRPr>
            </a:pPr>
            <a:r>
              <a:t>AI Life Recommender   ·   CMPE 256   ·   4 / 22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548640"/>
          </a:xfrm>
          <a:prstGeom prst="rect">
            <a:avLst/>
          </a:prstGeom>
          <a:noFill/>
        </p:spPr>
        <p:txBody>
          <a:bodyPr wrap="none">
            <a:spAutoFit/>
          </a:bodyPr>
          <a:lstStyle/>
          <a:p>
            <a:pPr>
              <a:defRPr sz="2600" b="1">
                <a:solidFill>
                  <a:srgbClr val="FFFFFF"/>
                </a:solidFill>
              </a:defRPr>
            </a:pPr>
            <a:r>
              <a:t>Joint Multi-Domain Matrix Factorization</a:t>
            </a:r>
          </a:p>
        </p:txBody>
      </p:sp>
      <p:sp>
        <p:nvSpPr>
          <p:cNvPr id="4" name="TextBox 3"/>
          <p:cNvSpPr txBox="1"/>
          <p:nvPr/>
        </p:nvSpPr>
        <p:spPr>
          <a:xfrm>
            <a:off x="457200" y="868680"/>
            <a:ext cx="11247120" cy="365760"/>
          </a:xfrm>
          <a:prstGeom prst="rect">
            <a:avLst/>
          </a:prstGeom>
          <a:noFill/>
        </p:spPr>
        <p:txBody>
          <a:bodyPr wrap="none">
            <a:spAutoFit/>
          </a:bodyPr>
          <a:lstStyle/>
          <a:p>
            <a:pPr>
              <a:defRPr sz="1400" i="1">
                <a:solidFill>
                  <a:srgbClr val="555555"/>
                </a:solidFill>
              </a:defRPr>
            </a:pPr>
            <a:r>
              <a:t>Scoring backbone — shared user embedding plus per-domain context</a:t>
            </a:r>
          </a:p>
        </p:txBody>
      </p:sp>
      <p:pic>
        <p:nvPicPr>
          <p:cNvPr id="5" name="Picture 4" descr="eq_mf.png"/>
          <p:cNvPicPr>
            <a:picLocks noChangeAspect="1"/>
          </p:cNvPicPr>
          <p:nvPr/>
        </p:nvPicPr>
        <p:blipFill>
          <a:blip r:embed="rId2"/>
          <a:stretch>
            <a:fillRect/>
          </a:stretch>
        </p:blipFill>
        <p:spPr>
          <a:xfrm>
            <a:off x="1463040" y="1828800"/>
            <a:ext cx="9144000" cy="1470713"/>
          </a:xfrm>
          <a:prstGeom prst="rect">
            <a:avLst/>
          </a:prstGeom>
        </p:spPr>
      </p:pic>
      <p:sp>
        <p:nvSpPr>
          <p:cNvPr id="6" name="Rounded Rectangle 5"/>
          <p:cNvSpPr/>
          <p:nvPr/>
        </p:nvSpPr>
        <p:spPr>
          <a:xfrm>
            <a:off x="548640" y="3840480"/>
            <a:ext cx="3657600" cy="2468880"/>
          </a:xfrm>
          <a:prstGeom prst="roundRect">
            <a:avLst/>
          </a:prstGeom>
          <a:solidFill>
            <a:srgbClr val="FFFFFF"/>
          </a:solidFill>
          <a:ln w="22860">
            <a:solidFill>
              <a:srgbClr val="4DA8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3840480"/>
            <a:ext cx="164592" cy="2468880"/>
          </a:xfrm>
          <a:prstGeom prst="rect">
            <a:avLst/>
          </a:prstGeom>
          <a:solidFill>
            <a:srgbClr val="4DA8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3977640"/>
            <a:ext cx="3291840" cy="411480"/>
          </a:xfrm>
          <a:prstGeom prst="rect">
            <a:avLst/>
          </a:prstGeom>
          <a:noFill/>
        </p:spPr>
        <p:txBody>
          <a:bodyPr wrap="none">
            <a:spAutoFit/>
          </a:bodyPr>
          <a:lstStyle/>
          <a:p>
            <a:pPr>
              <a:defRPr sz="1600" b="1">
                <a:solidFill>
                  <a:srgbClr val="1B2A4E"/>
                </a:solidFill>
              </a:defRPr>
            </a:pPr>
            <a:r>
              <a:t>Why joint</a:t>
            </a:r>
          </a:p>
        </p:txBody>
      </p:sp>
      <p:sp>
        <p:nvSpPr>
          <p:cNvPr id="9" name="TextBox 8"/>
          <p:cNvSpPr txBox="1"/>
          <p:nvPr/>
        </p:nvSpPr>
        <p:spPr>
          <a:xfrm>
            <a:off x="822960" y="4389120"/>
            <a:ext cx="3291840" cy="1828800"/>
          </a:xfrm>
          <a:prstGeom prst="rect">
            <a:avLst/>
          </a:prstGeom>
          <a:noFill/>
        </p:spPr>
        <p:txBody>
          <a:bodyPr wrap="square">
            <a:spAutoFit/>
          </a:bodyPr>
          <a:lstStyle/>
          <a:p>
            <a:pPr>
              <a:spcAft>
                <a:spcPts val="400"/>
              </a:spcAft>
              <a:defRPr sz="1400">
                <a:solidFill>
                  <a:srgbClr val="555555"/>
                </a:solidFill>
              </a:defRPr>
            </a:pPr>
            <a:r>
              <a:t>Most users participate in only one domain.</a:t>
            </a:r>
          </a:p>
          <a:p>
            <a:pPr>
              <a:spcAft>
                <a:spcPts val="400"/>
              </a:spcAft>
              <a:defRPr sz="1400">
                <a:solidFill>
                  <a:srgbClr val="555555"/>
                </a:solidFill>
              </a:defRPr>
            </a:pPr>
          </a:p>
          <a:p>
            <a:pPr>
              <a:spcAft>
                <a:spcPts val="400"/>
              </a:spcAft>
              <a:defRPr sz="1400">
                <a:solidFill>
                  <a:srgbClr val="555555"/>
                </a:solidFill>
              </a:defRPr>
            </a:pPr>
            <a:r>
              <a:t>A shared user embedding lets collaborative signal in one domain inform predictions in others.</a:t>
            </a:r>
          </a:p>
        </p:txBody>
      </p:sp>
      <p:sp>
        <p:nvSpPr>
          <p:cNvPr id="10" name="Rounded Rectangle 9"/>
          <p:cNvSpPr/>
          <p:nvPr/>
        </p:nvSpPr>
        <p:spPr>
          <a:xfrm>
            <a:off x="4434840" y="3840480"/>
            <a:ext cx="3657600" cy="2468880"/>
          </a:xfrm>
          <a:prstGeom prst="roundRect">
            <a:avLst/>
          </a:prstGeom>
          <a:solidFill>
            <a:srgbClr val="FFFFFF"/>
          </a:solidFill>
          <a:ln w="22860">
            <a:solidFill>
              <a:srgbClr val="E58A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434840" y="3840480"/>
            <a:ext cx="164592" cy="2468880"/>
          </a:xfrm>
          <a:prstGeom prst="rect">
            <a:avLst/>
          </a:prstGeom>
          <a:solidFill>
            <a:srgbClr val="E58A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09160" y="3977640"/>
            <a:ext cx="3291840" cy="411480"/>
          </a:xfrm>
          <a:prstGeom prst="rect">
            <a:avLst/>
          </a:prstGeom>
          <a:noFill/>
        </p:spPr>
        <p:txBody>
          <a:bodyPr wrap="none">
            <a:spAutoFit/>
          </a:bodyPr>
          <a:lstStyle/>
          <a:p>
            <a:pPr>
              <a:defRPr sz="1600" b="1">
                <a:solidFill>
                  <a:srgbClr val="1B2A4E"/>
                </a:solidFill>
              </a:defRPr>
            </a:pPr>
            <a:r>
              <a:t>Why domain vector</a:t>
            </a:r>
          </a:p>
        </p:txBody>
      </p:sp>
      <p:sp>
        <p:nvSpPr>
          <p:cNvPr id="13" name="TextBox 12"/>
          <p:cNvSpPr txBox="1"/>
          <p:nvPr/>
        </p:nvSpPr>
        <p:spPr>
          <a:xfrm>
            <a:off x="4709160" y="4389120"/>
            <a:ext cx="3291840" cy="1828800"/>
          </a:xfrm>
          <a:prstGeom prst="rect">
            <a:avLst/>
          </a:prstGeom>
          <a:noFill/>
        </p:spPr>
        <p:txBody>
          <a:bodyPr wrap="square">
            <a:spAutoFit/>
          </a:bodyPr>
          <a:lstStyle/>
          <a:p>
            <a:pPr>
              <a:spcAft>
                <a:spcPts val="400"/>
              </a:spcAft>
              <a:defRPr sz="1400">
                <a:solidFill>
                  <a:srgbClr val="555555"/>
                </a:solidFill>
              </a:defRPr>
            </a:pPr>
            <a:r>
              <a:t>Adding domain_emb to the user embedding lets a single model express that the same user has different latent profiles per domain.</a:t>
            </a:r>
          </a:p>
        </p:txBody>
      </p:sp>
      <p:sp>
        <p:nvSpPr>
          <p:cNvPr id="14" name="Rounded Rectangle 13"/>
          <p:cNvSpPr/>
          <p:nvPr/>
        </p:nvSpPr>
        <p:spPr>
          <a:xfrm>
            <a:off x="8321040" y="3840480"/>
            <a:ext cx="3291840" cy="2468880"/>
          </a:xfrm>
          <a:prstGeom prst="roundRect">
            <a:avLst/>
          </a:prstGeom>
          <a:solidFill>
            <a:srgbClr val="FFFFFF"/>
          </a:solidFill>
          <a:ln w="22860">
            <a:solidFill>
              <a:srgbClr val="1B2A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321040" y="3840480"/>
            <a:ext cx="164592" cy="2468880"/>
          </a:xfrm>
          <a:prstGeom prst="rect">
            <a:avLst/>
          </a:prstGeom>
          <a:solidFill>
            <a:srgbClr val="1B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95360" y="3977640"/>
            <a:ext cx="2926080" cy="411480"/>
          </a:xfrm>
          <a:prstGeom prst="rect">
            <a:avLst/>
          </a:prstGeom>
          <a:noFill/>
        </p:spPr>
        <p:txBody>
          <a:bodyPr wrap="none">
            <a:spAutoFit/>
          </a:bodyPr>
          <a:lstStyle/>
          <a:p>
            <a:pPr>
              <a:defRPr sz="1600" b="1">
                <a:solidFill>
                  <a:srgbClr val="1B2A4E"/>
                </a:solidFill>
              </a:defRPr>
            </a:pPr>
            <a:r>
              <a:t>Training</a:t>
            </a:r>
          </a:p>
        </p:txBody>
      </p:sp>
      <p:sp>
        <p:nvSpPr>
          <p:cNvPr id="17" name="TextBox 16"/>
          <p:cNvSpPr txBox="1"/>
          <p:nvPr/>
        </p:nvSpPr>
        <p:spPr>
          <a:xfrm>
            <a:off x="8595360" y="4389120"/>
            <a:ext cx="2926080" cy="1828800"/>
          </a:xfrm>
          <a:prstGeom prst="rect">
            <a:avLst/>
          </a:prstGeom>
          <a:noFill/>
        </p:spPr>
        <p:txBody>
          <a:bodyPr wrap="square">
            <a:spAutoFit/>
          </a:bodyPr>
          <a:lstStyle/>
          <a:p>
            <a:pPr>
              <a:spcAft>
                <a:spcPts val="400"/>
              </a:spcAft>
              <a:defRPr sz="1400">
                <a:solidFill>
                  <a:srgbClr val="555555"/>
                </a:solidFill>
              </a:defRPr>
            </a:pPr>
            <a:r>
              <a:t>Adam optimizer.</a:t>
            </a:r>
          </a:p>
          <a:p>
            <a:pPr>
              <a:spcAft>
                <a:spcPts val="400"/>
              </a:spcAft>
              <a:defRPr sz="1400">
                <a:solidFill>
                  <a:srgbClr val="555555"/>
                </a:solidFill>
              </a:defRPr>
            </a:pPr>
            <a:r>
              <a:t>MSE on explicit ratings.</a:t>
            </a:r>
          </a:p>
          <a:p>
            <a:pPr>
              <a:spcAft>
                <a:spcPts val="400"/>
              </a:spcAft>
              <a:defRPr sz="1400">
                <a:solidFill>
                  <a:srgbClr val="555555"/>
                </a:solidFill>
              </a:defRPr>
            </a:pPr>
            <a:r>
              <a:t>Time-split 80/20.</a:t>
            </a:r>
          </a:p>
          <a:p>
            <a:pPr>
              <a:spcAft>
                <a:spcPts val="400"/>
              </a:spcAft>
              <a:defRPr sz="1400">
                <a:solidFill>
                  <a:srgbClr val="555555"/>
                </a:solidFill>
              </a:defRPr>
            </a:pPr>
            <a:r>
              <a:t>29M interactions.</a:t>
            </a:r>
          </a:p>
        </p:txBody>
      </p:sp>
      <p:sp>
        <p:nvSpPr>
          <p:cNvPr id="18" name="TextBox 17"/>
          <p:cNvSpPr txBox="1"/>
          <p:nvPr/>
        </p:nvSpPr>
        <p:spPr>
          <a:xfrm>
            <a:off x="457200" y="6492240"/>
            <a:ext cx="11247120" cy="274320"/>
          </a:xfrm>
          <a:prstGeom prst="rect">
            <a:avLst/>
          </a:prstGeom>
          <a:noFill/>
        </p:spPr>
        <p:txBody>
          <a:bodyPr wrap="none">
            <a:spAutoFit/>
          </a:bodyPr>
          <a:lstStyle/>
          <a:p>
            <a:pPr>
              <a:defRPr sz="1000">
                <a:solidFill>
                  <a:srgbClr val="555555"/>
                </a:solidFill>
              </a:defRPr>
            </a:pPr>
            <a:r>
              <a:t>AI Life Recommender   ·   CMPE 256   ·   5 / 22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548640"/>
          </a:xfrm>
          <a:prstGeom prst="rect">
            <a:avLst/>
          </a:prstGeom>
          <a:noFill/>
        </p:spPr>
        <p:txBody>
          <a:bodyPr wrap="none">
            <a:spAutoFit/>
          </a:bodyPr>
          <a:lstStyle/>
          <a:p>
            <a:pPr>
              <a:defRPr sz="2600" b="1">
                <a:solidFill>
                  <a:srgbClr val="FFFFFF"/>
                </a:solidFill>
              </a:defRPr>
            </a:pPr>
            <a:r>
              <a:t>LangGraph Pipeline — Five Sequential Nodes</a:t>
            </a:r>
          </a:p>
        </p:txBody>
      </p:sp>
      <p:sp>
        <p:nvSpPr>
          <p:cNvPr id="4" name="Rounded Rectangle 3"/>
          <p:cNvSpPr/>
          <p:nvPr/>
        </p:nvSpPr>
        <p:spPr>
          <a:xfrm>
            <a:off x="457200" y="1828800"/>
            <a:ext cx="2194560" cy="1828800"/>
          </a:xfrm>
          <a:prstGeom prst="roundRect">
            <a:avLst/>
          </a:prstGeom>
          <a:solidFill>
            <a:srgbClr val="FFFFFF"/>
          </a:solidFill>
          <a:ln w="19050">
            <a:solidFill>
              <a:srgbClr val="1B2A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965960"/>
            <a:ext cx="2194560" cy="457200"/>
          </a:xfrm>
          <a:prstGeom prst="rect">
            <a:avLst/>
          </a:prstGeom>
          <a:noFill/>
        </p:spPr>
        <p:txBody>
          <a:bodyPr wrap="square">
            <a:spAutoFit/>
          </a:bodyPr>
          <a:lstStyle/>
          <a:p>
            <a:pPr algn="ctr">
              <a:defRPr sz="1300" b="1" i="0">
                <a:solidFill>
                  <a:srgbClr val="1B2A4E"/>
                </a:solidFill>
              </a:defRPr>
            </a:pPr>
            <a:r>
              <a:t>retrieve_memory</a:t>
            </a:r>
          </a:p>
        </p:txBody>
      </p:sp>
      <p:sp>
        <p:nvSpPr>
          <p:cNvPr id="6" name="TextBox 5"/>
          <p:cNvSpPr txBox="1"/>
          <p:nvPr/>
        </p:nvSpPr>
        <p:spPr>
          <a:xfrm>
            <a:off x="457200" y="2514600"/>
            <a:ext cx="2194560" cy="1097280"/>
          </a:xfrm>
          <a:prstGeom prst="rect">
            <a:avLst/>
          </a:prstGeom>
          <a:noFill/>
        </p:spPr>
        <p:txBody>
          <a:bodyPr wrap="square">
            <a:spAutoFit/>
          </a:bodyPr>
          <a:lstStyle/>
          <a:p>
            <a:pPr algn="ctr">
              <a:defRPr sz="1200" b="0" i="0">
                <a:solidFill>
                  <a:srgbClr val="555555"/>
                </a:solidFill>
              </a:defRPr>
            </a:pPr>
            <a:r>
              <a:t>FAISS lookup</a:t>
            </a:r>
          </a:p>
          <a:p>
            <a:pPr algn="ctr">
              <a:defRPr sz="1200" b="0" i="0">
                <a:solidFill>
                  <a:srgbClr val="555555"/>
                </a:solidFill>
              </a:defRPr>
            </a:pPr>
            <a:r>
              <a:t>of past sessions</a:t>
            </a:r>
          </a:p>
        </p:txBody>
      </p:sp>
      <p:sp>
        <p:nvSpPr>
          <p:cNvPr id="7" name="Rounded Rectangle 6"/>
          <p:cNvSpPr/>
          <p:nvPr/>
        </p:nvSpPr>
        <p:spPr>
          <a:xfrm>
            <a:off x="2743200" y="1828800"/>
            <a:ext cx="2194560" cy="1828800"/>
          </a:xfrm>
          <a:prstGeom prst="roundRect">
            <a:avLst/>
          </a:prstGeom>
          <a:solidFill>
            <a:srgbClr val="FFFFFF"/>
          </a:solidFill>
          <a:ln w="19050">
            <a:solidFill>
              <a:srgbClr val="1B2A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0" y="1965960"/>
            <a:ext cx="2194560" cy="457200"/>
          </a:xfrm>
          <a:prstGeom prst="rect">
            <a:avLst/>
          </a:prstGeom>
          <a:noFill/>
        </p:spPr>
        <p:txBody>
          <a:bodyPr wrap="square">
            <a:spAutoFit/>
          </a:bodyPr>
          <a:lstStyle/>
          <a:p>
            <a:pPr algn="ctr">
              <a:defRPr sz="1300" b="1" i="0">
                <a:solidFill>
                  <a:srgbClr val="1B2A4E"/>
                </a:solidFill>
              </a:defRPr>
            </a:pPr>
            <a:r>
              <a:t>entertainment_agent</a:t>
            </a:r>
          </a:p>
        </p:txBody>
      </p:sp>
      <p:sp>
        <p:nvSpPr>
          <p:cNvPr id="9" name="TextBox 8"/>
          <p:cNvSpPr txBox="1"/>
          <p:nvPr/>
        </p:nvSpPr>
        <p:spPr>
          <a:xfrm>
            <a:off x="2743200" y="2514600"/>
            <a:ext cx="2194560" cy="1097280"/>
          </a:xfrm>
          <a:prstGeom prst="rect">
            <a:avLst/>
          </a:prstGeom>
          <a:noFill/>
        </p:spPr>
        <p:txBody>
          <a:bodyPr wrap="square">
            <a:spAutoFit/>
          </a:bodyPr>
          <a:lstStyle/>
          <a:p>
            <a:pPr algn="ctr">
              <a:defRPr sz="1200" b="0" i="0">
                <a:solidFill>
                  <a:srgbClr val="555555"/>
                </a:solidFill>
              </a:defRPr>
            </a:pPr>
            <a:r>
              <a:t>MF top-30 →</a:t>
            </a:r>
          </a:p>
          <a:p>
            <a:pPr algn="ctr">
              <a:defRPr sz="1200" b="0" i="0">
                <a:solidFill>
                  <a:srgbClr val="555555"/>
                </a:solidFill>
              </a:defRPr>
            </a:pPr>
            <a:r>
              <a:t>LLM picks 1 movie</a:t>
            </a:r>
          </a:p>
        </p:txBody>
      </p:sp>
      <p:sp>
        <p:nvSpPr>
          <p:cNvPr id="10" name="Rounded Rectangle 9"/>
          <p:cNvSpPr/>
          <p:nvPr/>
        </p:nvSpPr>
        <p:spPr>
          <a:xfrm>
            <a:off x="5029200" y="1828800"/>
            <a:ext cx="2194560" cy="1828800"/>
          </a:xfrm>
          <a:prstGeom prst="roundRect">
            <a:avLst/>
          </a:prstGeom>
          <a:solidFill>
            <a:srgbClr val="FFFFFF"/>
          </a:solidFill>
          <a:ln w="19050">
            <a:solidFill>
              <a:srgbClr val="1B2A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0" y="1965960"/>
            <a:ext cx="2194560" cy="457200"/>
          </a:xfrm>
          <a:prstGeom prst="rect">
            <a:avLst/>
          </a:prstGeom>
          <a:noFill/>
        </p:spPr>
        <p:txBody>
          <a:bodyPr wrap="square">
            <a:spAutoFit/>
          </a:bodyPr>
          <a:lstStyle/>
          <a:p>
            <a:pPr algn="ctr">
              <a:defRPr sz="1300" b="1" i="0">
                <a:solidFill>
                  <a:srgbClr val="1B2A4E"/>
                </a:solidFill>
              </a:defRPr>
            </a:pPr>
            <a:r>
              <a:t>food_agent</a:t>
            </a:r>
          </a:p>
        </p:txBody>
      </p:sp>
      <p:sp>
        <p:nvSpPr>
          <p:cNvPr id="12" name="TextBox 11"/>
          <p:cNvSpPr txBox="1"/>
          <p:nvPr/>
        </p:nvSpPr>
        <p:spPr>
          <a:xfrm>
            <a:off x="5029200" y="2514600"/>
            <a:ext cx="2194560" cy="1097280"/>
          </a:xfrm>
          <a:prstGeom prst="rect">
            <a:avLst/>
          </a:prstGeom>
          <a:noFill/>
        </p:spPr>
        <p:txBody>
          <a:bodyPr wrap="square">
            <a:spAutoFit/>
          </a:bodyPr>
          <a:lstStyle/>
          <a:p>
            <a:pPr algn="ctr">
              <a:defRPr sz="1200" b="0" i="0">
                <a:solidFill>
                  <a:srgbClr val="555555"/>
                </a:solidFill>
              </a:defRPr>
            </a:pPr>
            <a:r>
              <a:t>MF top-30 →</a:t>
            </a:r>
          </a:p>
          <a:p>
            <a:pPr algn="ctr">
              <a:defRPr sz="1200" b="0" i="0">
                <a:solidFill>
                  <a:srgbClr val="555555"/>
                </a:solidFill>
              </a:defRPr>
            </a:pPr>
            <a:r>
              <a:t>LLM picks 1 meal</a:t>
            </a:r>
          </a:p>
        </p:txBody>
      </p:sp>
      <p:sp>
        <p:nvSpPr>
          <p:cNvPr id="13" name="Rounded Rectangle 12"/>
          <p:cNvSpPr/>
          <p:nvPr/>
        </p:nvSpPr>
        <p:spPr>
          <a:xfrm>
            <a:off x="7315200" y="1828800"/>
            <a:ext cx="2194560" cy="1828800"/>
          </a:xfrm>
          <a:prstGeom prst="roundRect">
            <a:avLst/>
          </a:prstGeom>
          <a:solidFill>
            <a:srgbClr val="FFFFFF"/>
          </a:solidFill>
          <a:ln w="19050">
            <a:solidFill>
              <a:srgbClr val="1B2A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0" y="1965960"/>
            <a:ext cx="2194560" cy="457200"/>
          </a:xfrm>
          <a:prstGeom prst="rect">
            <a:avLst/>
          </a:prstGeom>
          <a:noFill/>
        </p:spPr>
        <p:txBody>
          <a:bodyPr wrap="square">
            <a:spAutoFit/>
          </a:bodyPr>
          <a:lstStyle/>
          <a:p>
            <a:pPr algn="ctr">
              <a:defRPr sz="1300" b="1" i="0">
                <a:solidFill>
                  <a:srgbClr val="1B2A4E"/>
                </a:solidFill>
              </a:defRPr>
            </a:pPr>
            <a:r>
              <a:t>learning_agent</a:t>
            </a:r>
          </a:p>
        </p:txBody>
      </p:sp>
      <p:sp>
        <p:nvSpPr>
          <p:cNvPr id="15" name="TextBox 14"/>
          <p:cNvSpPr txBox="1"/>
          <p:nvPr/>
        </p:nvSpPr>
        <p:spPr>
          <a:xfrm>
            <a:off x="7315200" y="2514600"/>
            <a:ext cx="2194560" cy="1097280"/>
          </a:xfrm>
          <a:prstGeom prst="rect">
            <a:avLst/>
          </a:prstGeom>
          <a:noFill/>
        </p:spPr>
        <p:txBody>
          <a:bodyPr wrap="square">
            <a:spAutoFit/>
          </a:bodyPr>
          <a:lstStyle/>
          <a:p>
            <a:pPr algn="ctr">
              <a:defRPr sz="1200" b="0" i="0">
                <a:solidFill>
                  <a:srgbClr val="555555"/>
                </a:solidFill>
              </a:defRPr>
            </a:pPr>
            <a:r>
              <a:t>MF top-30 →</a:t>
            </a:r>
          </a:p>
          <a:p>
            <a:pPr algn="ctr">
              <a:defRPr sz="1200" b="0" i="0">
                <a:solidFill>
                  <a:srgbClr val="555555"/>
                </a:solidFill>
              </a:defRPr>
            </a:pPr>
            <a:r>
              <a:t>LLM picks 1 book</a:t>
            </a:r>
          </a:p>
        </p:txBody>
      </p:sp>
      <p:sp>
        <p:nvSpPr>
          <p:cNvPr id="16" name="Rounded Rectangle 15"/>
          <p:cNvSpPr/>
          <p:nvPr/>
        </p:nvSpPr>
        <p:spPr>
          <a:xfrm>
            <a:off x="9601200" y="1828800"/>
            <a:ext cx="2194560" cy="1828800"/>
          </a:xfrm>
          <a:prstGeom prst="roundRect">
            <a:avLst/>
          </a:prstGeom>
          <a:solidFill>
            <a:srgbClr val="FFFFFF"/>
          </a:solidFill>
          <a:ln w="19050">
            <a:solidFill>
              <a:srgbClr val="1B2A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0" y="1965960"/>
            <a:ext cx="2194560" cy="457200"/>
          </a:xfrm>
          <a:prstGeom prst="rect">
            <a:avLst/>
          </a:prstGeom>
          <a:noFill/>
        </p:spPr>
        <p:txBody>
          <a:bodyPr wrap="square">
            <a:spAutoFit/>
          </a:bodyPr>
          <a:lstStyle/>
          <a:p>
            <a:pPr algn="ctr">
              <a:defRPr sz="1300" b="1" i="0">
                <a:solidFill>
                  <a:srgbClr val="1B2A4E"/>
                </a:solidFill>
              </a:defRPr>
            </a:pPr>
            <a:r>
              <a:t>habit_agent</a:t>
            </a:r>
          </a:p>
        </p:txBody>
      </p:sp>
      <p:sp>
        <p:nvSpPr>
          <p:cNvPr id="18" name="TextBox 17"/>
          <p:cNvSpPr txBox="1"/>
          <p:nvPr/>
        </p:nvSpPr>
        <p:spPr>
          <a:xfrm>
            <a:off x="9601200" y="2514600"/>
            <a:ext cx="2194560" cy="1097280"/>
          </a:xfrm>
          <a:prstGeom prst="rect">
            <a:avLst/>
          </a:prstGeom>
          <a:noFill/>
        </p:spPr>
        <p:txBody>
          <a:bodyPr wrap="square">
            <a:spAutoFit/>
          </a:bodyPr>
          <a:lstStyle/>
          <a:p>
            <a:pPr algn="ctr">
              <a:defRPr sz="1200" b="0" i="0">
                <a:solidFill>
                  <a:srgbClr val="555555"/>
                </a:solidFill>
              </a:defRPr>
            </a:pPr>
            <a:r>
              <a:t>LLM-only</a:t>
            </a:r>
          </a:p>
          <a:p>
            <a:pPr algn="ctr">
              <a:defRPr sz="1200" b="0" i="0">
                <a:solidFill>
                  <a:srgbClr val="555555"/>
                </a:solidFill>
              </a:defRPr>
            </a:pPr>
            <a:r>
              <a:t>(no MF data)</a:t>
            </a:r>
          </a:p>
        </p:txBody>
      </p:sp>
      <p:cxnSp>
        <p:nvCxnSpPr>
          <p:cNvPr id="19" name="Connector 18"/>
          <p:cNvCxnSpPr/>
          <p:nvPr/>
        </p:nvCxnSpPr>
        <p:spPr>
          <a:xfrm>
            <a:off x="2651760" y="2743200"/>
            <a:ext cx="91440" cy="0"/>
          </a:xfrm>
          <a:prstGeom prst="line">
            <a:avLst/>
          </a:prstGeom>
          <a:ln w="20320">
            <a:solidFill>
              <a:srgbClr val="1B2A4E"/>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937760" y="2743200"/>
            <a:ext cx="91440" cy="0"/>
          </a:xfrm>
          <a:prstGeom prst="line">
            <a:avLst/>
          </a:prstGeom>
          <a:ln w="20320">
            <a:solidFill>
              <a:srgbClr val="1B2A4E"/>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7223760" y="2743200"/>
            <a:ext cx="91440" cy="0"/>
          </a:xfrm>
          <a:prstGeom prst="line">
            <a:avLst/>
          </a:prstGeom>
          <a:ln w="20320">
            <a:solidFill>
              <a:srgbClr val="1B2A4E"/>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9509760" y="2743200"/>
            <a:ext cx="91440" cy="0"/>
          </a:xfrm>
          <a:prstGeom prst="line">
            <a:avLst/>
          </a:prstGeom>
          <a:ln w="20320">
            <a:solidFill>
              <a:srgbClr val="1B2A4E"/>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2743200" y="4572000"/>
            <a:ext cx="6858000" cy="822960"/>
          </a:xfrm>
          <a:prstGeom prst="roundRect">
            <a:avLst/>
          </a:prstGeom>
          <a:solidFill>
            <a:srgbClr val="1B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743200" y="4736592"/>
            <a:ext cx="6858000" cy="548640"/>
          </a:xfrm>
          <a:prstGeom prst="rect">
            <a:avLst/>
          </a:prstGeom>
          <a:noFill/>
        </p:spPr>
        <p:txBody>
          <a:bodyPr wrap="square">
            <a:spAutoFit/>
          </a:bodyPr>
          <a:lstStyle/>
          <a:p>
            <a:pPr algn="ctr">
              <a:defRPr sz="1600" b="1" i="0">
                <a:solidFill>
                  <a:srgbClr val="FFFFFF"/>
                </a:solidFill>
              </a:defRPr>
            </a:pPr>
            <a:r>
              <a:t>Orchestrator — synthesizes the four picks into a coherent response</a:t>
            </a:r>
          </a:p>
        </p:txBody>
      </p:sp>
      <p:cxnSp>
        <p:nvCxnSpPr>
          <p:cNvPr id="25" name="Connector 24"/>
          <p:cNvCxnSpPr/>
          <p:nvPr/>
        </p:nvCxnSpPr>
        <p:spPr>
          <a:xfrm>
            <a:off x="1554480" y="3657600"/>
            <a:ext cx="4617720" cy="914400"/>
          </a:xfrm>
          <a:prstGeom prst="line">
            <a:avLst/>
          </a:prstGeom>
          <a:ln w="11430">
            <a:solidFill>
              <a:srgbClr val="1B2A4E"/>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3840480" y="3657600"/>
            <a:ext cx="2331720" cy="914400"/>
          </a:xfrm>
          <a:prstGeom prst="line">
            <a:avLst/>
          </a:prstGeom>
          <a:ln w="11430">
            <a:solidFill>
              <a:srgbClr val="1B2A4E"/>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6126480" y="3657600"/>
            <a:ext cx="45720" cy="914400"/>
          </a:xfrm>
          <a:prstGeom prst="line">
            <a:avLst/>
          </a:prstGeom>
          <a:ln w="11430">
            <a:solidFill>
              <a:srgbClr val="1B2A4E"/>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6172200" y="3657600"/>
            <a:ext cx="2240280" cy="914400"/>
          </a:xfrm>
          <a:prstGeom prst="line">
            <a:avLst/>
          </a:prstGeom>
          <a:ln w="11430">
            <a:solidFill>
              <a:srgbClr val="1B2A4E"/>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a:off x="6172200" y="3657600"/>
            <a:ext cx="4526280" cy="914400"/>
          </a:xfrm>
          <a:prstGeom prst="line">
            <a:avLst/>
          </a:prstGeom>
          <a:ln w="11430">
            <a:solidFill>
              <a:srgbClr val="1B2A4E"/>
            </a:solidFill>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2743200" y="5669280"/>
            <a:ext cx="6858000" cy="640080"/>
          </a:xfrm>
          <a:prstGeom prst="roundRect">
            <a:avLst/>
          </a:prstGeom>
          <a:solidFill>
            <a:srgbClr val="E58A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743200" y="5779008"/>
            <a:ext cx="6858000" cy="457200"/>
          </a:xfrm>
          <a:prstGeom prst="rect">
            <a:avLst/>
          </a:prstGeom>
          <a:noFill/>
        </p:spPr>
        <p:txBody>
          <a:bodyPr wrap="square">
            <a:spAutoFit/>
          </a:bodyPr>
          <a:lstStyle/>
          <a:p>
            <a:pPr algn="ctr">
              <a:defRPr sz="1500" b="1" i="0">
                <a:solidFill>
                  <a:srgbClr val="FFFFFF"/>
                </a:solidFill>
              </a:defRPr>
            </a:pPr>
            <a:r>
              <a:t>Movie  ·  Meal  ·  Book  ·  Habit   +   natural-language summary</a:t>
            </a:r>
          </a:p>
        </p:txBody>
      </p:sp>
      <p:sp>
        <p:nvSpPr>
          <p:cNvPr id="32" name="TextBox 31"/>
          <p:cNvSpPr txBox="1"/>
          <p:nvPr/>
        </p:nvSpPr>
        <p:spPr>
          <a:xfrm>
            <a:off x="457200" y="6492240"/>
            <a:ext cx="11247120" cy="274320"/>
          </a:xfrm>
          <a:prstGeom prst="rect">
            <a:avLst/>
          </a:prstGeom>
          <a:noFill/>
        </p:spPr>
        <p:txBody>
          <a:bodyPr wrap="none">
            <a:spAutoFit/>
          </a:bodyPr>
          <a:lstStyle/>
          <a:p>
            <a:pPr>
              <a:defRPr sz="1000">
                <a:solidFill>
                  <a:srgbClr val="555555"/>
                </a:solidFill>
              </a:defRPr>
            </a:pPr>
            <a:r>
              <a:t>AI Life Recommender   ·   CMPE 256   ·   6 / 22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548640"/>
          </a:xfrm>
          <a:prstGeom prst="rect">
            <a:avLst/>
          </a:prstGeom>
          <a:noFill/>
        </p:spPr>
        <p:txBody>
          <a:bodyPr wrap="none">
            <a:spAutoFit/>
          </a:bodyPr>
          <a:lstStyle/>
          <a:p>
            <a:pPr>
              <a:defRPr sz="2600" b="1">
                <a:solidFill>
                  <a:srgbClr val="FFFFFF"/>
                </a:solidFill>
              </a:defRPr>
            </a:pPr>
            <a:r>
              <a:t>Two Hybrid Contributions on Top of the CF Backbone</a:t>
            </a:r>
          </a:p>
        </p:txBody>
      </p:sp>
      <p:sp>
        <p:nvSpPr>
          <p:cNvPr id="4" name="TextBox 3"/>
          <p:cNvSpPr txBox="1"/>
          <p:nvPr/>
        </p:nvSpPr>
        <p:spPr>
          <a:xfrm>
            <a:off x="457200" y="868680"/>
            <a:ext cx="11247120" cy="365760"/>
          </a:xfrm>
          <a:prstGeom prst="rect">
            <a:avLst/>
          </a:prstGeom>
          <a:noFill/>
        </p:spPr>
        <p:txBody>
          <a:bodyPr wrap="none">
            <a:spAutoFit/>
          </a:bodyPr>
          <a:lstStyle/>
          <a:p>
            <a:pPr>
              <a:defRPr sz="1400" i="1">
                <a:solidFill>
                  <a:srgbClr val="555555"/>
                </a:solidFill>
              </a:defRPr>
            </a:pPr>
            <a:r>
              <a:t>Each layer is independently toggleable and addresses a distinct weakness of pure CF</a:t>
            </a:r>
          </a:p>
        </p:txBody>
      </p:sp>
      <p:sp>
        <p:nvSpPr>
          <p:cNvPr id="5" name="Rounded Rectangle 4"/>
          <p:cNvSpPr/>
          <p:nvPr/>
        </p:nvSpPr>
        <p:spPr>
          <a:xfrm>
            <a:off x="640080" y="1463040"/>
            <a:ext cx="5394960" cy="4937760"/>
          </a:xfrm>
          <a:prstGeom prst="roundRect">
            <a:avLst/>
          </a:prstGeom>
          <a:solidFill>
            <a:srgbClr val="FFFFFF"/>
          </a:solidFill>
          <a:ln w="22860">
            <a:solidFill>
              <a:srgbClr val="E58A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63040"/>
            <a:ext cx="164592" cy="4937760"/>
          </a:xfrm>
          <a:prstGeom prst="rect">
            <a:avLst/>
          </a:prstGeom>
          <a:solidFill>
            <a:srgbClr val="E58A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00200"/>
            <a:ext cx="5029200" cy="411480"/>
          </a:xfrm>
          <a:prstGeom prst="rect">
            <a:avLst/>
          </a:prstGeom>
          <a:noFill/>
        </p:spPr>
        <p:txBody>
          <a:bodyPr wrap="none">
            <a:spAutoFit/>
          </a:bodyPr>
          <a:lstStyle/>
          <a:p>
            <a:pPr>
              <a:defRPr sz="1600" b="1">
                <a:solidFill>
                  <a:srgbClr val="1B2A4E"/>
                </a:solidFill>
              </a:defRPr>
            </a:pPr>
            <a:r>
              <a:t>S1 — Semantic Cross-Domain Retrieval</a:t>
            </a:r>
          </a:p>
        </p:txBody>
      </p:sp>
      <p:sp>
        <p:nvSpPr>
          <p:cNvPr id="8" name="TextBox 7"/>
          <p:cNvSpPr txBox="1"/>
          <p:nvPr/>
        </p:nvSpPr>
        <p:spPr>
          <a:xfrm>
            <a:off x="914400" y="2011680"/>
            <a:ext cx="5029200" cy="4297680"/>
          </a:xfrm>
          <a:prstGeom prst="rect">
            <a:avLst/>
          </a:prstGeom>
          <a:noFill/>
        </p:spPr>
        <p:txBody>
          <a:bodyPr wrap="square">
            <a:spAutoFit/>
          </a:bodyPr>
          <a:lstStyle/>
          <a:p>
            <a:pPr>
              <a:spcAft>
                <a:spcPts val="400"/>
              </a:spcAft>
              <a:defRPr sz="1500">
                <a:solidFill>
                  <a:srgbClr val="555555"/>
                </a:solidFill>
              </a:defRPr>
            </a:pPr>
            <a:r>
              <a:t>Encode item metadata via sentence-transformers.</a:t>
            </a:r>
          </a:p>
          <a:p>
            <a:pPr>
              <a:spcAft>
                <a:spcPts val="400"/>
              </a:spcAft>
              <a:defRPr sz="1500">
                <a:solidFill>
                  <a:srgbClr val="555555"/>
                </a:solidFill>
              </a:defRPr>
            </a:pPr>
            <a:r>
              <a:t>Build a single FAISS index over all three domains.</a:t>
            </a:r>
          </a:p>
          <a:p>
            <a:pPr>
              <a:spcAft>
                <a:spcPts val="400"/>
              </a:spcAft>
              <a:defRPr sz="1500">
                <a:solidFill>
                  <a:srgbClr val="555555"/>
                </a:solidFill>
              </a:defRPr>
            </a:pPr>
            <a:r>
              <a:t>Query = mean of the user's positively-rated item embeddings.</a:t>
            </a:r>
          </a:p>
          <a:p>
            <a:pPr>
              <a:spcAft>
                <a:spcPts val="400"/>
              </a:spcAft>
              <a:defRPr sz="1500">
                <a:solidFill>
                  <a:srgbClr val="555555"/>
                </a:solidFill>
              </a:defRPr>
            </a:pPr>
            <a:r>
              <a:t>Fuse MF score with semantic similarity via tunable weight α.</a:t>
            </a:r>
          </a:p>
          <a:p>
            <a:pPr>
              <a:spcAft>
                <a:spcPts val="400"/>
              </a:spcAft>
              <a:defRPr sz="1500">
                <a:solidFill>
                  <a:srgbClr val="555555"/>
                </a:solidFill>
              </a:defRPr>
            </a:pPr>
          </a:p>
          <a:p>
            <a:pPr>
              <a:spcAft>
                <a:spcPts val="400"/>
              </a:spcAft>
              <a:defRPr sz="1500">
                <a:solidFill>
                  <a:srgbClr val="555555"/>
                </a:solidFill>
              </a:defRPr>
            </a:pPr>
            <a:r>
              <a:t>Addresses cold-start, cross-domain bridging, long-tail surfacing.</a:t>
            </a:r>
          </a:p>
        </p:txBody>
      </p:sp>
      <p:sp>
        <p:nvSpPr>
          <p:cNvPr id="9" name="Rounded Rectangle 8"/>
          <p:cNvSpPr/>
          <p:nvPr/>
        </p:nvSpPr>
        <p:spPr>
          <a:xfrm>
            <a:off x="6217920" y="1463040"/>
            <a:ext cx="5394960" cy="4937760"/>
          </a:xfrm>
          <a:prstGeom prst="roundRect">
            <a:avLst/>
          </a:prstGeom>
          <a:solidFill>
            <a:srgbClr val="FFFFFF"/>
          </a:solidFill>
          <a:ln w="22860">
            <a:solidFill>
              <a:srgbClr val="4DA8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17920" y="1463040"/>
            <a:ext cx="164592" cy="4937760"/>
          </a:xfrm>
          <a:prstGeom prst="rect">
            <a:avLst/>
          </a:prstGeom>
          <a:solidFill>
            <a:srgbClr val="4DA8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600200"/>
            <a:ext cx="5029200" cy="411480"/>
          </a:xfrm>
          <a:prstGeom prst="rect">
            <a:avLst/>
          </a:prstGeom>
          <a:noFill/>
        </p:spPr>
        <p:txBody>
          <a:bodyPr wrap="none">
            <a:spAutoFit/>
          </a:bodyPr>
          <a:lstStyle/>
          <a:p>
            <a:pPr>
              <a:defRPr sz="1600" b="1">
                <a:solidFill>
                  <a:srgbClr val="1B2A4E"/>
                </a:solidFill>
              </a:defRPr>
            </a:pPr>
            <a:r>
              <a:t>S2 — Per-User Multi-Cluster Taste Model</a:t>
            </a:r>
          </a:p>
        </p:txBody>
      </p:sp>
      <p:sp>
        <p:nvSpPr>
          <p:cNvPr id="12" name="TextBox 11"/>
          <p:cNvSpPr txBox="1"/>
          <p:nvPr/>
        </p:nvSpPr>
        <p:spPr>
          <a:xfrm>
            <a:off x="6492240" y="2011680"/>
            <a:ext cx="5029200" cy="4297680"/>
          </a:xfrm>
          <a:prstGeom prst="rect">
            <a:avLst/>
          </a:prstGeom>
          <a:noFill/>
        </p:spPr>
        <p:txBody>
          <a:bodyPr wrap="square">
            <a:spAutoFit/>
          </a:bodyPr>
          <a:lstStyle/>
          <a:p>
            <a:pPr>
              <a:spcAft>
                <a:spcPts val="400"/>
              </a:spcAft>
              <a:defRPr sz="1500">
                <a:solidFill>
                  <a:srgbClr val="555555"/>
                </a:solidFill>
              </a:defRPr>
            </a:pPr>
            <a:r>
              <a:t>KMeans on each user's rated-item embeddings → K taste centroids.</a:t>
            </a:r>
          </a:p>
          <a:p>
            <a:pPr>
              <a:spcAft>
                <a:spcPts val="400"/>
              </a:spcAft>
              <a:defRPr sz="1500">
                <a:solidFill>
                  <a:srgbClr val="555555"/>
                </a:solidFill>
              </a:defRPr>
            </a:pPr>
            <a:r>
              <a:t>Softmax over cosine(current context, centroid) → active cluster.</a:t>
            </a:r>
          </a:p>
          <a:p>
            <a:pPr>
              <a:spcAft>
                <a:spcPts val="400"/>
              </a:spcAft>
              <a:defRPr sz="1500">
                <a:solidFill>
                  <a:srgbClr val="555555"/>
                </a:solidFill>
              </a:defRPr>
            </a:pPr>
            <a:r>
              <a:t>Re-rank MF candidates by proximity to the active centroid.</a:t>
            </a:r>
          </a:p>
          <a:p>
            <a:pPr>
              <a:spcAft>
                <a:spcPts val="400"/>
              </a:spcAft>
              <a:defRPr sz="1500">
                <a:solidFill>
                  <a:srgbClr val="555555"/>
                </a:solidFill>
              </a:defRPr>
            </a:pPr>
            <a:r>
              <a:t>Posterior entropy is the ambiguity signal for elicitation.</a:t>
            </a:r>
          </a:p>
          <a:p>
            <a:pPr>
              <a:spcAft>
                <a:spcPts val="400"/>
              </a:spcAft>
              <a:defRPr sz="1500">
                <a:solidFill>
                  <a:srgbClr val="555555"/>
                </a:solidFill>
              </a:defRPr>
            </a:pPr>
          </a:p>
          <a:p>
            <a:pPr>
              <a:spcAft>
                <a:spcPts val="400"/>
              </a:spcAft>
              <a:defRPr sz="1500">
                <a:solidFill>
                  <a:srgbClr val="555555"/>
                </a:solidFill>
              </a:defRPr>
            </a:pPr>
            <a:r>
              <a:t>Treats user as multi-tasted with context-activated modes.</a:t>
            </a:r>
          </a:p>
        </p:txBody>
      </p:sp>
      <p:sp>
        <p:nvSpPr>
          <p:cNvPr id="13" name="TextBox 12"/>
          <p:cNvSpPr txBox="1"/>
          <p:nvPr/>
        </p:nvSpPr>
        <p:spPr>
          <a:xfrm>
            <a:off x="457200" y="6492240"/>
            <a:ext cx="11247120" cy="274320"/>
          </a:xfrm>
          <a:prstGeom prst="rect">
            <a:avLst/>
          </a:prstGeom>
          <a:noFill/>
        </p:spPr>
        <p:txBody>
          <a:bodyPr wrap="none">
            <a:spAutoFit/>
          </a:bodyPr>
          <a:lstStyle/>
          <a:p>
            <a:pPr>
              <a:defRPr sz="1000">
                <a:solidFill>
                  <a:srgbClr val="555555"/>
                </a:solidFill>
              </a:defRPr>
            </a:pPr>
            <a:r>
              <a:t>AI Life Recommender   ·   CMPE 256   ·   7 / 22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548640"/>
          </a:xfrm>
          <a:prstGeom prst="rect">
            <a:avLst/>
          </a:prstGeom>
          <a:noFill/>
        </p:spPr>
        <p:txBody>
          <a:bodyPr wrap="none">
            <a:spAutoFit/>
          </a:bodyPr>
          <a:lstStyle/>
          <a:p>
            <a:pPr>
              <a:defRPr sz="2600" b="1">
                <a:solidFill>
                  <a:srgbClr val="FFFFFF"/>
                </a:solidFill>
              </a:defRPr>
            </a:pPr>
            <a:r>
              <a:t>S1 — Mechanism</a:t>
            </a:r>
          </a:p>
        </p:txBody>
      </p:sp>
      <p:pic>
        <p:nvPicPr>
          <p:cNvPr id="4" name="Picture 3" descr="s1_mechanism.png"/>
          <p:cNvPicPr>
            <a:picLocks noChangeAspect="1"/>
          </p:cNvPicPr>
          <p:nvPr/>
        </p:nvPicPr>
        <p:blipFill>
          <a:blip r:embed="rId2"/>
          <a:stretch>
            <a:fillRect/>
          </a:stretch>
        </p:blipFill>
        <p:spPr>
          <a:xfrm>
            <a:off x="365760" y="1188720"/>
            <a:ext cx="11430000" cy="6159964"/>
          </a:xfrm>
          <a:prstGeom prst="rect">
            <a:avLst/>
          </a:prstGeom>
        </p:spPr>
      </p:pic>
      <p:sp>
        <p:nvSpPr>
          <p:cNvPr id="5" name="TextBox 4"/>
          <p:cNvSpPr txBox="1"/>
          <p:nvPr/>
        </p:nvSpPr>
        <p:spPr>
          <a:xfrm>
            <a:off x="457200" y="6492240"/>
            <a:ext cx="11247120" cy="274320"/>
          </a:xfrm>
          <a:prstGeom prst="rect">
            <a:avLst/>
          </a:prstGeom>
          <a:noFill/>
        </p:spPr>
        <p:txBody>
          <a:bodyPr wrap="none">
            <a:spAutoFit/>
          </a:bodyPr>
          <a:lstStyle/>
          <a:p>
            <a:pPr>
              <a:defRPr sz="1000">
                <a:solidFill>
                  <a:srgbClr val="555555"/>
                </a:solidFill>
              </a:defRPr>
            </a:pPr>
            <a:r>
              <a:t>AI Life Recommender   ·   CMPE 256   ·   8 / 22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548640"/>
          </a:xfrm>
          <a:prstGeom prst="rect">
            <a:avLst/>
          </a:prstGeom>
          <a:noFill/>
        </p:spPr>
        <p:txBody>
          <a:bodyPr wrap="none">
            <a:spAutoFit/>
          </a:bodyPr>
          <a:lstStyle/>
          <a:p>
            <a:pPr>
              <a:defRPr sz="2600" b="1">
                <a:solidFill>
                  <a:srgbClr val="FFFFFF"/>
                </a:solidFill>
              </a:defRPr>
            </a:pPr>
            <a:r>
              <a:t>S1 — Key Equations</a:t>
            </a:r>
          </a:p>
        </p:txBody>
      </p:sp>
      <p:sp>
        <p:nvSpPr>
          <p:cNvPr id="4" name="TextBox 3"/>
          <p:cNvSpPr txBox="1"/>
          <p:nvPr/>
        </p:nvSpPr>
        <p:spPr>
          <a:xfrm>
            <a:off x="914400" y="1280160"/>
            <a:ext cx="10058400" cy="365760"/>
          </a:xfrm>
          <a:prstGeom prst="rect">
            <a:avLst/>
          </a:prstGeom>
          <a:noFill/>
        </p:spPr>
        <p:txBody>
          <a:bodyPr wrap="square">
            <a:spAutoFit/>
          </a:bodyPr>
          <a:lstStyle/>
          <a:p>
            <a:pPr>
              <a:defRPr sz="1600" b="1" i="0">
                <a:solidFill>
                  <a:srgbClr val="1B2A4E"/>
                </a:solidFill>
              </a:defRPr>
            </a:pPr>
            <a:r>
              <a:t>User profile vector (mean-pooled, L2-normalized)</a:t>
            </a:r>
          </a:p>
        </p:txBody>
      </p:sp>
      <p:pic>
        <p:nvPicPr>
          <p:cNvPr id="5" name="Picture 4" descr="eq_user_profile.png"/>
          <p:cNvPicPr>
            <a:picLocks noChangeAspect="1"/>
          </p:cNvPicPr>
          <p:nvPr/>
        </p:nvPicPr>
        <p:blipFill>
          <a:blip r:embed="rId2"/>
          <a:stretch>
            <a:fillRect/>
          </a:stretch>
        </p:blipFill>
        <p:spPr>
          <a:xfrm>
            <a:off x="1828800" y="1645920"/>
            <a:ext cx="8229600" cy="1479026"/>
          </a:xfrm>
          <a:prstGeom prst="rect">
            <a:avLst/>
          </a:prstGeom>
        </p:spPr>
      </p:pic>
      <p:sp>
        <p:nvSpPr>
          <p:cNvPr id="6" name="TextBox 5"/>
          <p:cNvSpPr txBox="1"/>
          <p:nvPr/>
        </p:nvSpPr>
        <p:spPr>
          <a:xfrm>
            <a:off x="914400" y="3657600"/>
            <a:ext cx="10058400" cy="365760"/>
          </a:xfrm>
          <a:prstGeom prst="rect">
            <a:avLst/>
          </a:prstGeom>
          <a:noFill/>
        </p:spPr>
        <p:txBody>
          <a:bodyPr wrap="square">
            <a:spAutoFit/>
          </a:bodyPr>
          <a:lstStyle/>
          <a:p>
            <a:pPr>
              <a:defRPr sz="1600" b="1" i="0">
                <a:solidFill>
                  <a:srgbClr val="1B2A4E"/>
                </a:solidFill>
              </a:defRPr>
            </a:pPr>
            <a:r>
              <a:t>Fused ranking — min-max normalized weighted sum</a:t>
            </a:r>
          </a:p>
        </p:txBody>
      </p:sp>
      <p:pic>
        <p:nvPicPr>
          <p:cNvPr id="7" name="Picture 6" descr="eq_s1.png"/>
          <p:cNvPicPr>
            <a:picLocks noChangeAspect="1"/>
          </p:cNvPicPr>
          <p:nvPr/>
        </p:nvPicPr>
        <p:blipFill>
          <a:blip r:embed="rId3"/>
          <a:stretch>
            <a:fillRect/>
          </a:stretch>
        </p:blipFill>
        <p:spPr>
          <a:xfrm>
            <a:off x="1828800" y="4023360"/>
            <a:ext cx="8229600" cy="1323642"/>
          </a:xfrm>
          <a:prstGeom prst="rect">
            <a:avLst/>
          </a:prstGeom>
        </p:spPr>
      </p:pic>
      <p:sp>
        <p:nvSpPr>
          <p:cNvPr id="8" name="TextBox 7"/>
          <p:cNvSpPr txBox="1"/>
          <p:nvPr/>
        </p:nvSpPr>
        <p:spPr>
          <a:xfrm>
            <a:off x="914400" y="5852160"/>
            <a:ext cx="10058400" cy="548640"/>
          </a:xfrm>
          <a:prstGeom prst="rect">
            <a:avLst/>
          </a:prstGeom>
          <a:noFill/>
        </p:spPr>
        <p:txBody>
          <a:bodyPr wrap="square">
            <a:spAutoFit/>
          </a:bodyPr>
          <a:lstStyle/>
          <a:p>
            <a:pPr algn="ctr">
              <a:defRPr sz="1300" b="0" i="1">
                <a:solidFill>
                  <a:srgbClr val="555555"/>
                </a:solidFill>
              </a:defRPr>
            </a:pPr>
            <a:r>
              <a:t>α tunes the explore/exploit trade-off — closer to 1 favors collaborative accuracy; closer to 0 favors content-based discovery.</a:t>
            </a:r>
          </a:p>
        </p:txBody>
      </p:sp>
      <p:sp>
        <p:nvSpPr>
          <p:cNvPr id="9" name="TextBox 8"/>
          <p:cNvSpPr txBox="1"/>
          <p:nvPr/>
        </p:nvSpPr>
        <p:spPr>
          <a:xfrm>
            <a:off x="457200" y="6492240"/>
            <a:ext cx="11247120" cy="274320"/>
          </a:xfrm>
          <a:prstGeom prst="rect">
            <a:avLst/>
          </a:prstGeom>
          <a:noFill/>
        </p:spPr>
        <p:txBody>
          <a:bodyPr wrap="none">
            <a:spAutoFit/>
          </a:bodyPr>
          <a:lstStyle/>
          <a:p>
            <a:pPr>
              <a:defRPr sz="1000">
                <a:solidFill>
                  <a:srgbClr val="555555"/>
                </a:solidFill>
              </a:defRPr>
            </a:pPr>
            <a:r>
              <a:t>AI Life Recommender   ·   CMPE 256   ·   9 / 22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548640"/>
          </a:xfrm>
          <a:prstGeom prst="rect">
            <a:avLst/>
          </a:prstGeom>
          <a:noFill/>
        </p:spPr>
        <p:txBody>
          <a:bodyPr wrap="none">
            <a:spAutoFit/>
          </a:bodyPr>
          <a:lstStyle/>
          <a:p>
            <a:pPr>
              <a:defRPr sz="2600" b="1">
                <a:solidFill>
                  <a:srgbClr val="FFFFFF"/>
                </a:solidFill>
              </a:defRPr>
            </a:pPr>
            <a:r>
              <a:t>S2 — Mechanism</a:t>
            </a:r>
          </a:p>
        </p:txBody>
      </p:sp>
      <p:pic>
        <p:nvPicPr>
          <p:cNvPr id="4" name="Picture 3" descr="s2_mechanism.png"/>
          <p:cNvPicPr>
            <a:picLocks noChangeAspect="1"/>
          </p:cNvPicPr>
          <p:nvPr/>
        </p:nvPicPr>
        <p:blipFill>
          <a:blip r:embed="rId2"/>
          <a:stretch>
            <a:fillRect/>
          </a:stretch>
        </p:blipFill>
        <p:spPr>
          <a:xfrm>
            <a:off x="365760" y="1188720"/>
            <a:ext cx="11430000" cy="6159964"/>
          </a:xfrm>
          <a:prstGeom prst="rect">
            <a:avLst/>
          </a:prstGeom>
        </p:spPr>
      </p:pic>
      <p:sp>
        <p:nvSpPr>
          <p:cNvPr id="5" name="TextBox 4"/>
          <p:cNvSpPr txBox="1"/>
          <p:nvPr/>
        </p:nvSpPr>
        <p:spPr>
          <a:xfrm>
            <a:off x="457200" y="6492240"/>
            <a:ext cx="11247120" cy="274320"/>
          </a:xfrm>
          <a:prstGeom prst="rect">
            <a:avLst/>
          </a:prstGeom>
          <a:noFill/>
        </p:spPr>
        <p:txBody>
          <a:bodyPr wrap="none">
            <a:spAutoFit/>
          </a:bodyPr>
          <a:lstStyle/>
          <a:p>
            <a:pPr>
              <a:defRPr sz="1000">
                <a:solidFill>
                  <a:srgbClr val="555555"/>
                </a:solidFill>
              </a:defRPr>
            </a:pPr>
            <a:r>
              <a:t>AI Life Recommender   ·   CMPE 256   ·   10 / 22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548640"/>
          </a:xfrm>
          <a:prstGeom prst="rect">
            <a:avLst/>
          </a:prstGeom>
          <a:noFill/>
        </p:spPr>
        <p:txBody>
          <a:bodyPr wrap="none">
            <a:spAutoFit/>
          </a:bodyPr>
          <a:lstStyle/>
          <a:p>
            <a:pPr>
              <a:defRPr sz="2600" b="1">
                <a:solidFill>
                  <a:srgbClr val="FFFFFF"/>
                </a:solidFill>
              </a:defRPr>
            </a:pPr>
            <a:r>
              <a:t>S2 — Key Equations</a:t>
            </a:r>
          </a:p>
        </p:txBody>
      </p:sp>
      <p:sp>
        <p:nvSpPr>
          <p:cNvPr id="4" name="TextBox 3"/>
          <p:cNvSpPr txBox="1"/>
          <p:nvPr/>
        </p:nvSpPr>
        <p:spPr>
          <a:xfrm>
            <a:off x="914400" y="1280160"/>
            <a:ext cx="10058400" cy="365760"/>
          </a:xfrm>
          <a:prstGeom prst="rect">
            <a:avLst/>
          </a:prstGeom>
          <a:noFill/>
        </p:spPr>
        <p:txBody>
          <a:bodyPr wrap="square">
            <a:spAutoFit/>
          </a:bodyPr>
          <a:lstStyle/>
          <a:p>
            <a:pPr>
              <a:defRPr sz="1600" b="1" i="0">
                <a:solidFill>
                  <a:srgbClr val="1B2A4E"/>
                </a:solidFill>
              </a:defRPr>
            </a:pPr>
            <a:r>
              <a:t>Cluster posterior — softmax over cosine similarity to centroids</a:t>
            </a:r>
          </a:p>
        </p:txBody>
      </p:sp>
      <p:pic>
        <p:nvPicPr>
          <p:cNvPr id="5" name="Picture 4" descr="eq_s2_posterior.png"/>
          <p:cNvPicPr>
            <a:picLocks noChangeAspect="1"/>
          </p:cNvPicPr>
          <p:nvPr/>
        </p:nvPicPr>
        <p:blipFill>
          <a:blip r:embed="rId2"/>
          <a:stretch>
            <a:fillRect/>
          </a:stretch>
        </p:blipFill>
        <p:spPr>
          <a:xfrm>
            <a:off x="1828800" y="1645920"/>
            <a:ext cx="8229600" cy="1323642"/>
          </a:xfrm>
          <a:prstGeom prst="rect">
            <a:avLst/>
          </a:prstGeom>
        </p:spPr>
      </p:pic>
      <p:sp>
        <p:nvSpPr>
          <p:cNvPr id="6" name="TextBox 5"/>
          <p:cNvSpPr txBox="1"/>
          <p:nvPr/>
        </p:nvSpPr>
        <p:spPr>
          <a:xfrm>
            <a:off x="914400" y="3657600"/>
            <a:ext cx="10058400" cy="365760"/>
          </a:xfrm>
          <a:prstGeom prst="rect">
            <a:avLst/>
          </a:prstGeom>
          <a:noFill/>
        </p:spPr>
        <p:txBody>
          <a:bodyPr wrap="square">
            <a:spAutoFit/>
          </a:bodyPr>
          <a:lstStyle/>
          <a:p>
            <a:pPr>
              <a:defRPr sz="1600" b="1" i="0">
                <a:solidFill>
                  <a:srgbClr val="1B2A4E"/>
                </a:solidFill>
              </a:defRPr>
            </a:pPr>
            <a:r>
              <a:t>Posterior entropy — ambiguity signal for elicitation</a:t>
            </a:r>
          </a:p>
        </p:txBody>
      </p:sp>
      <p:pic>
        <p:nvPicPr>
          <p:cNvPr id="7" name="Picture 6" descr="eq_s2_entropy.png"/>
          <p:cNvPicPr>
            <a:picLocks noChangeAspect="1"/>
          </p:cNvPicPr>
          <p:nvPr/>
        </p:nvPicPr>
        <p:blipFill>
          <a:blip r:embed="rId3"/>
          <a:stretch>
            <a:fillRect/>
          </a:stretch>
        </p:blipFill>
        <p:spPr>
          <a:xfrm>
            <a:off x="2743200" y="4023360"/>
            <a:ext cx="6400800" cy="1277938"/>
          </a:xfrm>
          <a:prstGeom prst="rect">
            <a:avLst/>
          </a:prstGeom>
        </p:spPr>
      </p:pic>
      <p:sp>
        <p:nvSpPr>
          <p:cNvPr id="8" name="TextBox 7"/>
          <p:cNvSpPr txBox="1"/>
          <p:nvPr/>
        </p:nvSpPr>
        <p:spPr>
          <a:xfrm>
            <a:off x="914400" y="5486400"/>
            <a:ext cx="10058400" cy="914400"/>
          </a:xfrm>
          <a:prstGeom prst="rect">
            <a:avLst/>
          </a:prstGeom>
          <a:noFill/>
        </p:spPr>
        <p:txBody>
          <a:bodyPr wrap="square">
            <a:spAutoFit/>
          </a:bodyPr>
          <a:lstStyle/>
          <a:p>
            <a:pPr algn="ctr">
              <a:defRPr sz="1300" b="0" i="1">
                <a:solidFill>
                  <a:srgbClr val="555555"/>
                </a:solidFill>
              </a:defRPr>
            </a:pPr>
            <a:r>
              <a:t>Low entropy → one cluster dominates → re-rank MF candidates by that centroid.</a:t>
            </a:r>
          </a:p>
          <a:p>
            <a:pPr algn="ctr">
              <a:defRPr sz="1300" b="0" i="1">
                <a:solidFill>
                  <a:srgbClr val="555555"/>
                </a:solidFill>
              </a:defRPr>
            </a:pPr>
            <a:r>
              <a:t>High entropy → no cluster dominates → ask one disambiguating question grounded in the centroid contents.</a:t>
            </a:r>
          </a:p>
        </p:txBody>
      </p:sp>
      <p:sp>
        <p:nvSpPr>
          <p:cNvPr id="9" name="TextBox 8"/>
          <p:cNvSpPr txBox="1"/>
          <p:nvPr/>
        </p:nvSpPr>
        <p:spPr>
          <a:xfrm>
            <a:off x="457200" y="6492240"/>
            <a:ext cx="11247120" cy="274320"/>
          </a:xfrm>
          <a:prstGeom prst="rect">
            <a:avLst/>
          </a:prstGeom>
          <a:noFill/>
        </p:spPr>
        <p:txBody>
          <a:bodyPr wrap="none">
            <a:spAutoFit/>
          </a:bodyPr>
          <a:lstStyle/>
          <a:p>
            <a:pPr>
              <a:defRPr sz="1000">
                <a:solidFill>
                  <a:srgbClr val="555555"/>
                </a:solidFill>
              </a:defRPr>
            </a:pPr>
            <a:r>
              <a:t>AI Life Recommender   ·   CMPE 256   ·   11 / 22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548640"/>
          </a:xfrm>
          <a:prstGeom prst="rect">
            <a:avLst/>
          </a:prstGeom>
          <a:noFill/>
        </p:spPr>
        <p:txBody>
          <a:bodyPr wrap="none">
            <a:spAutoFit/>
          </a:bodyPr>
          <a:lstStyle/>
          <a:p>
            <a:pPr>
              <a:defRPr sz="2600" b="1">
                <a:solidFill>
                  <a:srgbClr val="FFFFFF"/>
                </a:solidFill>
              </a:defRPr>
            </a:pPr>
            <a:r>
              <a:t>Vector Storage — FAISS as our vector database</a:t>
            </a:r>
          </a:p>
        </p:txBody>
      </p:sp>
      <p:sp>
        <p:nvSpPr>
          <p:cNvPr id="4" name="TextBox 3"/>
          <p:cNvSpPr txBox="1"/>
          <p:nvPr/>
        </p:nvSpPr>
        <p:spPr>
          <a:xfrm>
            <a:off x="457200" y="868680"/>
            <a:ext cx="11247120" cy="365760"/>
          </a:xfrm>
          <a:prstGeom prst="rect">
            <a:avLst/>
          </a:prstGeom>
          <a:noFill/>
        </p:spPr>
        <p:txBody>
          <a:bodyPr wrap="none">
            <a:spAutoFit/>
          </a:bodyPr>
          <a:lstStyle/>
          <a:p>
            <a:pPr>
              <a:defRPr sz="1400" i="1">
                <a:solidFill>
                  <a:srgbClr val="555555"/>
                </a:solidFill>
              </a:defRPr>
            </a:pPr>
            <a:r>
              <a:t>One index serves item-metadata retrieval (S1) and session memory (Adam's existing path)</a:t>
            </a:r>
          </a:p>
        </p:txBody>
      </p:sp>
      <p:pic>
        <p:nvPicPr>
          <p:cNvPr id="5" name="Picture 4" descr="vector_db.png"/>
          <p:cNvPicPr>
            <a:picLocks noChangeAspect="1"/>
          </p:cNvPicPr>
          <p:nvPr/>
        </p:nvPicPr>
        <p:blipFill>
          <a:blip r:embed="rId2"/>
          <a:stretch>
            <a:fillRect/>
          </a:stretch>
        </p:blipFill>
        <p:spPr>
          <a:xfrm>
            <a:off x="365760" y="1325880"/>
            <a:ext cx="11430000" cy="6159964"/>
          </a:xfrm>
          <a:prstGeom prst="rect">
            <a:avLst/>
          </a:prstGeom>
        </p:spPr>
      </p:pic>
      <p:sp>
        <p:nvSpPr>
          <p:cNvPr id="6" name="TextBox 5"/>
          <p:cNvSpPr txBox="1"/>
          <p:nvPr/>
        </p:nvSpPr>
        <p:spPr>
          <a:xfrm>
            <a:off x="457200" y="6492240"/>
            <a:ext cx="11247120" cy="274320"/>
          </a:xfrm>
          <a:prstGeom prst="rect">
            <a:avLst/>
          </a:prstGeom>
          <a:noFill/>
        </p:spPr>
        <p:txBody>
          <a:bodyPr wrap="none">
            <a:spAutoFit/>
          </a:bodyPr>
          <a:lstStyle/>
          <a:p>
            <a:pPr>
              <a:defRPr sz="1000">
                <a:solidFill>
                  <a:srgbClr val="555555"/>
                </a:solidFill>
              </a:defRPr>
            </a:pPr>
            <a:r>
              <a:t>AI Life Recommender   ·   CMPE 256   ·   12 / 22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548640"/>
          </a:xfrm>
          <a:prstGeom prst="rect">
            <a:avLst/>
          </a:prstGeom>
          <a:noFill/>
        </p:spPr>
        <p:txBody>
          <a:bodyPr wrap="none">
            <a:spAutoFit/>
          </a:bodyPr>
          <a:lstStyle/>
          <a:p>
            <a:pPr>
              <a:defRPr sz="2600" b="1">
                <a:solidFill>
                  <a:srgbClr val="FFFFFF"/>
                </a:solidFill>
              </a:defRPr>
            </a:pPr>
            <a:r>
              <a:t>Item Embedding Space — what's in the vector DB</a:t>
            </a:r>
          </a:p>
        </p:txBody>
      </p:sp>
      <p:sp>
        <p:nvSpPr>
          <p:cNvPr id="4" name="TextBox 3"/>
          <p:cNvSpPr txBox="1"/>
          <p:nvPr/>
        </p:nvSpPr>
        <p:spPr>
          <a:xfrm>
            <a:off x="457200" y="868680"/>
            <a:ext cx="11247120" cy="365760"/>
          </a:xfrm>
          <a:prstGeom prst="rect">
            <a:avLst/>
          </a:prstGeom>
          <a:noFill/>
        </p:spPr>
        <p:txBody>
          <a:bodyPr wrap="none">
            <a:spAutoFit/>
          </a:bodyPr>
          <a:lstStyle/>
          <a:p>
            <a:pPr>
              <a:defRPr sz="1400" i="1">
                <a:solidFill>
                  <a:srgbClr val="555555"/>
                </a:solidFill>
              </a:defRPr>
            </a:pPr>
            <a:r>
              <a:t>1,682 MovieLens items embedded with MiniLM-L6-v2, projected to 2D via PCA</a:t>
            </a:r>
          </a:p>
        </p:txBody>
      </p:sp>
      <p:pic>
        <p:nvPicPr>
          <p:cNvPr id="5" name="Picture 4" descr="embeddings_scatter.png"/>
          <p:cNvPicPr>
            <a:picLocks noChangeAspect="1"/>
          </p:cNvPicPr>
          <p:nvPr/>
        </p:nvPicPr>
        <p:blipFill>
          <a:blip r:embed="rId2"/>
          <a:stretch>
            <a:fillRect/>
          </a:stretch>
        </p:blipFill>
        <p:spPr>
          <a:xfrm>
            <a:off x="548640" y="1325880"/>
            <a:ext cx="11064240" cy="6984936"/>
          </a:xfrm>
          <a:prstGeom prst="rect">
            <a:avLst/>
          </a:prstGeom>
        </p:spPr>
      </p:pic>
      <p:sp>
        <p:nvSpPr>
          <p:cNvPr id="6" name="TextBox 5"/>
          <p:cNvSpPr txBox="1"/>
          <p:nvPr/>
        </p:nvSpPr>
        <p:spPr>
          <a:xfrm>
            <a:off x="548640" y="5943600"/>
            <a:ext cx="11064240" cy="640080"/>
          </a:xfrm>
          <a:prstGeom prst="rect">
            <a:avLst/>
          </a:prstGeom>
          <a:noFill/>
        </p:spPr>
        <p:txBody>
          <a:bodyPr wrap="square">
            <a:spAutoFit/>
          </a:bodyPr>
          <a:lstStyle/>
          <a:p>
            <a:pPr algn="ctr">
              <a:defRPr sz="1300" b="0" i="1">
                <a:solidFill>
                  <a:srgbClr val="1B2A4E"/>
                </a:solidFill>
              </a:defRPr>
            </a:pPr>
            <a:r>
              <a:t>Action and Adventure share the right cluster; Comedy and Drama spread across the left half; Documentaries sit apart. The structure is what FAISS searches against.</a:t>
            </a:r>
          </a:p>
        </p:txBody>
      </p:sp>
      <p:sp>
        <p:nvSpPr>
          <p:cNvPr id="7" name="TextBox 6"/>
          <p:cNvSpPr txBox="1"/>
          <p:nvPr/>
        </p:nvSpPr>
        <p:spPr>
          <a:xfrm>
            <a:off x="457200" y="6492240"/>
            <a:ext cx="11247120" cy="274320"/>
          </a:xfrm>
          <a:prstGeom prst="rect">
            <a:avLst/>
          </a:prstGeom>
          <a:noFill/>
        </p:spPr>
        <p:txBody>
          <a:bodyPr wrap="none">
            <a:spAutoFit/>
          </a:bodyPr>
          <a:lstStyle/>
          <a:p>
            <a:pPr>
              <a:defRPr sz="1000">
                <a:solidFill>
                  <a:srgbClr val="555555"/>
                </a:solidFill>
              </a:defRPr>
            </a:pPr>
            <a:r>
              <a:t>AI Life Recommender   ·   CMPE 256   ·   13 / 22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548640"/>
          </a:xfrm>
          <a:prstGeom prst="rect">
            <a:avLst/>
          </a:prstGeom>
          <a:noFill/>
        </p:spPr>
        <p:txBody>
          <a:bodyPr wrap="none">
            <a:spAutoFit/>
          </a:bodyPr>
          <a:lstStyle/>
          <a:p>
            <a:pPr>
              <a:defRPr sz="2600" b="1">
                <a:solidFill>
                  <a:srgbClr val="FFFFFF"/>
                </a:solidFill>
              </a:defRPr>
            </a:pPr>
            <a:r>
              <a:t>Live Retrieval — natural-language query into FAISS</a:t>
            </a:r>
          </a:p>
        </p:txBody>
      </p:sp>
      <p:sp>
        <p:nvSpPr>
          <p:cNvPr id="4" name="TextBox 3"/>
          <p:cNvSpPr txBox="1"/>
          <p:nvPr/>
        </p:nvSpPr>
        <p:spPr>
          <a:xfrm>
            <a:off x="457200" y="868680"/>
            <a:ext cx="11247120" cy="365760"/>
          </a:xfrm>
          <a:prstGeom prst="rect">
            <a:avLst/>
          </a:prstGeom>
          <a:noFill/>
        </p:spPr>
        <p:txBody>
          <a:bodyPr wrap="none">
            <a:spAutoFit/>
          </a:bodyPr>
          <a:lstStyle/>
          <a:p>
            <a:pPr>
              <a:defRPr sz="1400" i="1">
                <a:solidFill>
                  <a:srgbClr val="555555"/>
                </a:solidFill>
              </a:defRPr>
            </a:pPr>
            <a:r>
              <a:t>Same embedder, same index — three intents, top-5 nearest items</a:t>
            </a:r>
          </a:p>
        </p:txBody>
      </p:sp>
      <p:pic>
        <p:nvPicPr>
          <p:cNvPr id="5" name="Picture 4" descr="retrieval_example.png"/>
          <p:cNvPicPr>
            <a:picLocks noChangeAspect="1"/>
          </p:cNvPicPr>
          <p:nvPr/>
        </p:nvPicPr>
        <p:blipFill>
          <a:blip r:embed="rId2"/>
          <a:stretch>
            <a:fillRect/>
          </a:stretch>
        </p:blipFill>
        <p:spPr>
          <a:xfrm>
            <a:off x="365760" y="1325880"/>
            <a:ext cx="11430000" cy="5027303"/>
          </a:xfrm>
          <a:prstGeom prst="rect">
            <a:avLst/>
          </a:prstGeom>
        </p:spPr>
      </p:pic>
      <p:sp>
        <p:nvSpPr>
          <p:cNvPr id="6" name="TextBox 5"/>
          <p:cNvSpPr txBox="1"/>
          <p:nvPr/>
        </p:nvSpPr>
        <p:spPr>
          <a:xfrm>
            <a:off x="548640" y="5943600"/>
            <a:ext cx="11064240" cy="640080"/>
          </a:xfrm>
          <a:prstGeom prst="rect">
            <a:avLst/>
          </a:prstGeom>
          <a:noFill/>
        </p:spPr>
        <p:txBody>
          <a:bodyPr wrap="square">
            <a:spAutoFit/>
          </a:bodyPr>
          <a:lstStyle/>
          <a:p>
            <a:pPr algn="ctr">
              <a:defRPr sz="1300" b="0" i="1">
                <a:solidFill>
                  <a:srgbClr val="1B2A4E"/>
                </a:solidFill>
              </a:defRPr>
            </a:pPr>
            <a:r>
              <a:t>No keyword matching, no rules. The query "feel-good comedy that will make me laugh" returns Comedy titles by cosine similarity in embedding space alone. This is the retrieval primitive S1 uses to augment MF candidates.</a:t>
            </a:r>
          </a:p>
        </p:txBody>
      </p:sp>
      <p:sp>
        <p:nvSpPr>
          <p:cNvPr id="7" name="TextBox 6"/>
          <p:cNvSpPr txBox="1"/>
          <p:nvPr/>
        </p:nvSpPr>
        <p:spPr>
          <a:xfrm>
            <a:off x="457200" y="6492240"/>
            <a:ext cx="11247120" cy="274320"/>
          </a:xfrm>
          <a:prstGeom prst="rect">
            <a:avLst/>
          </a:prstGeom>
          <a:noFill/>
        </p:spPr>
        <p:txBody>
          <a:bodyPr wrap="none">
            <a:spAutoFit/>
          </a:bodyPr>
          <a:lstStyle/>
          <a:p>
            <a:pPr>
              <a:defRPr sz="1000">
                <a:solidFill>
                  <a:srgbClr val="555555"/>
                </a:solidFill>
              </a:defRPr>
            </a:pPr>
            <a:r>
              <a:t>AI Life Recommender   ·   CMPE 256   ·   14 / 22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548640"/>
          </a:xfrm>
          <a:prstGeom prst="rect">
            <a:avLst/>
          </a:prstGeom>
          <a:noFill/>
        </p:spPr>
        <p:txBody>
          <a:bodyPr wrap="none">
            <a:spAutoFit/>
          </a:bodyPr>
          <a:lstStyle/>
          <a:p>
            <a:pPr>
              <a:defRPr sz="2600" b="1">
                <a:solidFill>
                  <a:srgbClr val="FFFFFF"/>
                </a:solidFill>
              </a:defRPr>
            </a:pPr>
            <a:r>
              <a:t>Baseline Sweep — Cornac on MovieLens 100K</a:t>
            </a:r>
          </a:p>
        </p:txBody>
      </p:sp>
      <p:pic>
        <p:nvPicPr>
          <p:cNvPr id="4" name="Picture 3" descr="cornac_metrics.png"/>
          <p:cNvPicPr>
            <a:picLocks noChangeAspect="1"/>
          </p:cNvPicPr>
          <p:nvPr/>
        </p:nvPicPr>
        <p:blipFill>
          <a:blip r:embed="rId2"/>
          <a:stretch>
            <a:fillRect/>
          </a:stretch>
        </p:blipFill>
        <p:spPr>
          <a:xfrm>
            <a:off x="365760" y="1280160"/>
            <a:ext cx="11430000" cy="13060211"/>
          </a:xfrm>
          <a:prstGeom prst="rect">
            <a:avLst/>
          </a:prstGeom>
        </p:spPr>
      </p:pic>
      <p:sp>
        <p:nvSpPr>
          <p:cNvPr id="5" name="TextBox 4"/>
          <p:cNvSpPr txBox="1"/>
          <p:nvPr/>
        </p:nvSpPr>
        <p:spPr>
          <a:xfrm>
            <a:off x="548640" y="5852160"/>
            <a:ext cx="11064240" cy="731520"/>
          </a:xfrm>
          <a:prstGeom prst="rect">
            <a:avLst/>
          </a:prstGeom>
          <a:noFill/>
        </p:spPr>
        <p:txBody>
          <a:bodyPr wrap="square">
            <a:spAutoFit/>
          </a:bodyPr>
          <a:lstStyle/>
          <a:p>
            <a:pPr>
              <a:defRPr sz="1400" b="0" i="0">
                <a:solidFill>
                  <a:srgbClr val="1B2A4E"/>
                </a:solidFill>
              </a:defRPr>
            </a:pPr>
            <a:r>
              <a:t>MF wins rating prediction (RMSE 0.89). BPR wins ranking metrics (NDCG@10 0.23) because it optimizes a pairwise ranking loss rather than reconstruction. The split motivates reporting both metric families for the hybrid comparison.</a:t>
            </a:r>
          </a:p>
        </p:txBody>
      </p:sp>
      <p:sp>
        <p:nvSpPr>
          <p:cNvPr id="6" name="TextBox 5"/>
          <p:cNvSpPr txBox="1"/>
          <p:nvPr/>
        </p:nvSpPr>
        <p:spPr>
          <a:xfrm>
            <a:off x="457200" y="6492240"/>
            <a:ext cx="11247120" cy="274320"/>
          </a:xfrm>
          <a:prstGeom prst="rect">
            <a:avLst/>
          </a:prstGeom>
          <a:noFill/>
        </p:spPr>
        <p:txBody>
          <a:bodyPr wrap="none">
            <a:spAutoFit/>
          </a:bodyPr>
          <a:lstStyle/>
          <a:p>
            <a:pPr>
              <a:defRPr sz="1000">
                <a:solidFill>
                  <a:srgbClr val="555555"/>
                </a:solidFill>
              </a:defRPr>
            </a:pPr>
            <a:r>
              <a:t>AI Life Recommender   ·   CMPE 256   ·   15 / 22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548640"/>
          </a:xfrm>
          <a:prstGeom prst="rect">
            <a:avLst/>
          </a:prstGeom>
          <a:noFill/>
        </p:spPr>
        <p:txBody>
          <a:bodyPr wrap="none">
            <a:spAutoFit/>
          </a:bodyPr>
          <a:lstStyle/>
          <a:p>
            <a:pPr>
              <a:defRPr sz="2600" b="1">
                <a:solidFill>
                  <a:srgbClr val="FFFFFF"/>
                </a:solidFill>
              </a:defRPr>
            </a:pPr>
            <a:r>
              <a:t>Four-Way Comparison — MF / +S1 / +S2 / +Both</a:t>
            </a:r>
          </a:p>
        </p:txBody>
      </p:sp>
      <p:pic>
        <p:nvPicPr>
          <p:cNvPr id="4" name="Picture 3" descr="compare_all.png"/>
          <p:cNvPicPr>
            <a:picLocks noChangeAspect="1"/>
          </p:cNvPicPr>
          <p:nvPr/>
        </p:nvPicPr>
        <p:blipFill>
          <a:blip r:embed="rId2"/>
          <a:stretch>
            <a:fillRect/>
          </a:stretch>
        </p:blipFill>
        <p:spPr>
          <a:xfrm>
            <a:off x="365760" y="1280160"/>
            <a:ext cx="11430000" cy="2496766"/>
          </a:xfrm>
          <a:prstGeom prst="rect">
            <a:avLst/>
          </a:prstGeom>
        </p:spPr>
      </p:pic>
      <p:sp>
        <p:nvSpPr>
          <p:cNvPr id="5" name="TextBox 4"/>
          <p:cNvSpPr txBox="1"/>
          <p:nvPr/>
        </p:nvSpPr>
        <p:spPr>
          <a:xfrm>
            <a:off x="548640" y="5852160"/>
            <a:ext cx="11064240" cy="731520"/>
          </a:xfrm>
          <a:prstGeom prst="rect">
            <a:avLst/>
          </a:prstGeom>
          <a:noFill/>
        </p:spPr>
        <p:txBody>
          <a:bodyPr wrap="square">
            <a:spAutoFit/>
          </a:bodyPr>
          <a:lstStyle/>
          <a:p>
            <a:pPr>
              <a:defRPr sz="1400" b="0" i="0">
                <a:solidFill>
                  <a:srgbClr val="1B2A4E"/>
                </a:solidFill>
              </a:defRPr>
            </a:pPr>
            <a:r>
              <a:t>Five metrics across four configurations on the same MovieLens 100K split. Accuracy on the left (NDCG, Recall). Exploration on the right (Diversity, Novelty, Coverage). Read across to see each layer's contribution.</a:t>
            </a:r>
          </a:p>
        </p:txBody>
      </p:sp>
      <p:sp>
        <p:nvSpPr>
          <p:cNvPr id="6" name="TextBox 5"/>
          <p:cNvSpPr txBox="1"/>
          <p:nvPr/>
        </p:nvSpPr>
        <p:spPr>
          <a:xfrm>
            <a:off x="457200" y="6492240"/>
            <a:ext cx="11247120" cy="274320"/>
          </a:xfrm>
          <a:prstGeom prst="rect">
            <a:avLst/>
          </a:prstGeom>
          <a:noFill/>
        </p:spPr>
        <p:txBody>
          <a:bodyPr wrap="none">
            <a:spAutoFit/>
          </a:bodyPr>
          <a:lstStyle/>
          <a:p>
            <a:pPr>
              <a:defRPr sz="1000">
                <a:solidFill>
                  <a:srgbClr val="555555"/>
                </a:solidFill>
              </a:defRPr>
            </a:pPr>
            <a:r>
              <a:t>AI Life Recommender   ·   CMPE 256   ·   16 / 22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548640"/>
          </a:xfrm>
          <a:prstGeom prst="rect">
            <a:avLst/>
          </a:prstGeom>
          <a:noFill/>
        </p:spPr>
        <p:txBody>
          <a:bodyPr wrap="none">
            <a:spAutoFit/>
          </a:bodyPr>
          <a:lstStyle/>
          <a:p>
            <a:pPr>
              <a:defRPr sz="2600" b="1">
                <a:solidFill>
                  <a:srgbClr val="FFFFFF"/>
                </a:solidFill>
              </a:defRPr>
            </a:pPr>
            <a:r>
              <a:t>Accuracy ↔ Exploration Trade-off</a:t>
            </a:r>
          </a:p>
        </p:txBody>
      </p:sp>
      <p:pic>
        <p:nvPicPr>
          <p:cNvPr id="4" name="Picture 3" descr="tradeoff.png"/>
          <p:cNvPicPr>
            <a:picLocks noChangeAspect="1"/>
          </p:cNvPicPr>
          <p:nvPr/>
        </p:nvPicPr>
        <p:blipFill>
          <a:blip r:embed="rId2"/>
          <a:stretch>
            <a:fillRect/>
          </a:stretch>
        </p:blipFill>
        <p:spPr>
          <a:xfrm>
            <a:off x="1828800" y="1280160"/>
            <a:ext cx="8503920" cy="5103440"/>
          </a:xfrm>
          <a:prstGeom prst="rect">
            <a:avLst/>
          </a:prstGeom>
        </p:spPr>
      </p:pic>
      <p:sp>
        <p:nvSpPr>
          <p:cNvPr id="5" name="TextBox 4"/>
          <p:cNvSpPr txBox="1"/>
          <p:nvPr/>
        </p:nvSpPr>
        <p:spPr>
          <a:xfrm>
            <a:off x="731520" y="5943600"/>
            <a:ext cx="10698480" cy="731520"/>
          </a:xfrm>
          <a:prstGeom prst="rect">
            <a:avLst/>
          </a:prstGeom>
          <a:noFill/>
        </p:spPr>
        <p:txBody>
          <a:bodyPr wrap="square">
            <a:spAutoFit/>
          </a:bodyPr>
          <a:lstStyle/>
          <a:p>
            <a:pPr algn="ctr">
              <a:defRPr sz="1300" b="0" i="0">
                <a:solidFill>
                  <a:srgbClr val="1B2A4E"/>
                </a:solidFill>
              </a:defRPr>
            </a:pPr>
            <a:r>
              <a:t>Every additional layer slides the system along an explore-exploit axis. S1 alone is the only point that wins accuracy and gains coverage. S2 trades accuracy for coverage. Both combined pushes coverage and novelty to their peaks at the lowest accuracy.</a:t>
            </a:r>
          </a:p>
        </p:txBody>
      </p:sp>
      <p:sp>
        <p:nvSpPr>
          <p:cNvPr id="6" name="TextBox 5"/>
          <p:cNvSpPr txBox="1"/>
          <p:nvPr/>
        </p:nvSpPr>
        <p:spPr>
          <a:xfrm>
            <a:off x="457200" y="6492240"/>
            <a:ext cx="11247120" cy="274320"/>
          </a:xfrm>
          <a:prstGeom prst="rect">
            <a:avLst/>
          </a:prstGeom>
          <a:noFill/>
        </p:spPr>
        <p:txBody>
          <a:bodyPr wrap="none">
            <a:spAutoFit/>
          </a:bodyPr>
          <a:lstStyle/>
          <a:p>
            <a:pPr>
              <a:defRPr sz="1000">
                <a:solidFill>
                  <a:srgbClr val="555555"/>
                </a:solidFill>
              </a:defRPr>
            </a:pPr>
            <a:r>
              <a:t>AI Life Recommender   ·   CMPE 256   ·   17 / 22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548640"/>
          </a:xfrm>
          <a:prstGeom prst="rect">
            <a:avLst/>
          </a:prstGeom>
          <a:noFill/>
        </p:spPr>
        <p:txBody>
          <a:bodyPr wrap="none">
            <a:spAutoFit/>
          </a:bodyPr>
          <a:lstStyle/>
          <a:p>
            <a:pPr>
              <a:defRPr sz="2600" b="1">
                <a:solidFill>
                  <a:srgbClr val="FFFFFF"/>
                </a:solidFill>
              </a:defRPr>
            </a:pPr>
            <a:r>
              <a:t>Numerical Results &amp; Reading</a:t>
            </a:r>
          </a:p>
        </p:txBody>
      </p:sp>
      <p:graphicFrame>
        <p:nvGraphicFramePr>
          <p:cNvPr id="4" name="Table 3"/>
          <p:cNvGraphicFramePr>
            <a:graphicFrameLocks noGrp="1"/>
          </p:cNvGraphicFramePr>
          <p:nvPr/>
        </p:nvGraphicFramePr>
        <p:xfrm>
          <a:off x="548640" y="1371600"/>
          <a:ext cx="11064240" cy="2377440"/>
        </p:xfrm>
        <a:graphic>
          <a:graphicData uri="http://schemas.openxmlformats.org/drawingml/2006/table">
            <a:tbl>
              <a:tblPr firstRow="1" bandRow="1">
                <a:tableStyleId>{5C22544A-7EE6-4342-B048-85BDC9FD1C3A}</a:tableStyleId>
              </a:tblPr>
              <a:tblGrid>
                <a:gridCol w="1844040"/>
                <a:gridCol w="1844040"/>
                <a:gridCol w="1844040"/>
                <a:gridCol w="1844040"/>
                <a:gridCol w="1844040"/>
                <a:gridCol w="1844040"/>
              </a:tblGrid>
              <a:tr h="475488">
                <a:tc>
                  <a:txBody>
                    <a:bodyPr/>
                    <a:lstStyle/>
                    <a:p>
                      <a:pPr>
                        <a:defRPr sz="1400" b="1">
                          <a:solidFill>
                            <a:srgbClr val="FFFFFF"/>
                          </a:solidFill>
                        </a:defRPr>
                      </a:pPr>
                      <a:r>
                        <a:t>Configuration</a:t>
                      </a:r>
                    </a:p>
                  </a:txBody>
                  <a:tcPr marL="73152" marR="73152" marT="54864" marB="54864">
                    <a:solidFill>
                      <a:srgbClr val="1B2A4E"/>
                    </a:solidFill>
                  </a:tcPr>
                </a:tc>
                <a:tc>
                  <a:txBody>
                    <a:bodyPr/>
                    <a:lstStyle/>
                    <a:p>
                      <a:pPr>
                        <a:defRPr sz="1400" b="1">
                          <a:solidFill>
                            <a:srgbClr val="FFFFFF"/>
                          </a:solidFill>
                        </a:defRPr>
                      </a:pPr>
                      <a:r>
                        <a:t>NDCG@10</a:t>
                      </a:r>
                    </a:p>
                  </a:txBody>
                  <a:tcPr marL="73152" marR="73152" marT="54864" marB="54864">
                    <a:solidFill>
                      <a:srgbClr val="1B2A4E"/>
                    </a:solidFill>
                  </a:tcPr>
                </a:tc>
                <a:tc>
                  <a:txBody>
                    <a:bodyPr/>
                    <a:lstStyle/>
                    <a:p>
                      <a:pPr>
                        <a:defRPr sz="1400" b="1">
                          <a:solidFill>
                            <a:srgbClr val="FFFFFF"/>
                          </a:solidFill>
                        </a:defRPr>
                      </a:pPr>
                      <a:r>
                        <a:t>Recall@10</a:t>
                      </a:r>
                    </a:p>
                  </a:txBody>
                  <a:tcPr marL="73152" marR="73152" marT="54864" marB="54864">
                    <a:solidFill>
                      <a:srgbClr val="1B2A4E"/>
                    </a:solidFill>
                  </a:tcPr>
                </a:tc>
                <a:tc>
                  <a:txBody>
                    <a:bodyPr/>
                    <a:lstStyle/>
                    <a:p>
                      <a:pPr>
                        <a:defRPr sz="1400" b="1">
                          <a:solidFill>
                            <a:srgbClr val="FFFFFF"/>
                          </a:solidFill>
                        </a:defRPr>
                      </a:pPr>
                      <a:r>
                        <a:t>Diversity</a:t>
                      </a:r>
                    </a:p>
                  </a:txBody>
                  <a:tcPr marL="73152" marR="73152" marT="54864" marB="54864">
                    <a:solidFill>
                      <a:srgbClr val="1B2A4E"/>
                    </a:solidFill>
                  </a:tcPr>
                </a:tc>
                <a:tc>
                  <a:txBody>
                    <a:bodyPr/>
                    <a:lstStyle/>
                    <a:p>
                      <a:pPr>
                        <a:defRPr sz="1400" b="1">
                          <a:solidFill>
                            <a:srgbClr val="FFFFFF"/>
                          </a:solidFill>
                        </a:defRPr>
                      </a:pPr>
                      <a:r>
                        <a:t>Novelty</a:t>
                      </a:r>
                    </a:p>
                  </a:txBody>
                  <a:tcPr marL="73152" marR="73152" marT="54864" marB="54864">
                    <a:solidFill>
                      <a:srgbClr val="1B2A4E"/>
                    </a:solidFill>
                  </a:tcPr>
                </a:tc>
                <a:tc>
                  <a:txBody>
                    <a:bodyPr/>
                    <a:lstStyle/>
                    <a:p>
                      <a:pPr>
                        <a:defRPr sz="1400" b="1">
                          <a:solidFill>
                            <a:srgbClr val="FFFFFF"/>
                          </a:solidFill>
                        </a:defRPr>
                      </a:pPr>
                      <a:r>
                        <a:t>Coverage</a:t>
                      </a:r>
                    </a:p>
                  </a:txBody>
                  <a:tcPr marL="73152" marR="73152" marT="54864" marB="54864">
                    <a:solidFill>
                      <a:srgbClr val="1B2A4E"/>
                    </a:solidFill>
                  </a:tcPr>
                </a:tc>
              </a:tr>
              <a:tr h="475488">
                <a:tc>
                  <a:txBody>
                    <a:bodyPr/>
                    <a:lstStyle/>
                    <a:p>
                      <a:pPr>
                        <a:defRPr sz="1500">
                          <a:solidFill>
                            <a:srgbClr val="1B2A4E"/>
                          </a:solidFill>
                        </a:defRPr>
                      </a:pPr>
                      <a:r>
                        <a:t>MF</a:t>
                      </a:r>
                    </a:p>
                  </a:txBody>
                  <a:tcPr marL="73152" marR="73152" marT="54864" marB="54864">
                    <a:solidFill>
                      <a:srgbClr val="FFFFFF"/>
                    </a:solidFill>
                  </a:tcPr>
                </a:tc>
                <a:tc>
                  <a:txBody>
                    <a:bodyPr/>
                    <a:lstStyle/>
                    <a:p>
                      <a:pPr>
                        <a:defRPr sz="1500">
                          <a:solidFill>
                            <a:srgbClr val="1B2A4E"/>
                          </a:solidFill>
                        </a:defRPr>
                      </a:pPr>
                      <a:r>
                        <a:t>0.0548</a:t>
                      </a:r>
                    </a:p>
                  </a:txBody>
                  <a:tcPr marL="73152" marR="73152" marT="54864" marB="54864">
                    <a:solidFill>
                      <a:srgbClr val="FFFFFF"/>
                    </a:solidFill>
                  </a:tcPr>
                </a:tc>
                <a:tc>
                  <a:txBody>
                    <a:bodyPr/>
                    <a:lstStyle/>
                    <a:p>
                      <a:pPr>
                        <a:defRPr sz="1500">
                          <a:solidFill>
                            <a:srgbClr val="1B2A4E"/>
                          </a:solidFill>
                        </a:defRPr>
                      </a:pPr>
                      <a:r>
                        <a:t>0.0428</a:t>
                      </a:r>
                    </a:p>
                  </a:txBody>
                  <a:tcPr marL="73152" marR="73152" marT="54864" marB="54864">
                    <a:solidFill>
                      <a:srgbClr val="FFFFFF"/>
                    </a:solidFill>
                  </a:tcPr>
                </a:tc>
                <a:tc>
                  <a:txBody>
                    <a:bodyPr/>
                    <a:lstStyle/>
                    <a:p>
                      <a:pPr>
                        <a:defRPr sz="1500">
                          <a:solidFill>
                            <a:srgbClr val="1B2A4E"/>
                          </a:solidFill>
                        </a:defRPr>
                      </a:pPr>
                      <a:r>
                        <a:t>0.6802</a:t>
                      </a:r>
                    </a:p>
                  </a:txBody>
                  <a:tcPr marL="73152" marR="73152" marT="54864" marB="54864">
                    <a:solidFill>
                      <a:srgbClr val="FFFFFF"/>
                    </a:solidFill>
                  </a:tcPr>
                </a:tc>
                <a:tc>
                  <a:txBody>
                    <a:bodyPr/>
                    <a:lstStyle/>
                    <a:p>
                      <a:pPr>
                        <a:defRPr sz="1500">
                          <a:solidFill>
                            <a:srgbClr val="1B2A4E"/>
                          </a:solidFill>
                        </a:defRPr>
                      </a:pPr>
                      <a:r>
                        <a:t>2.5814</a:t>
                      </a:r>
                    </a:p>
                  </a:txBody>
                  <a:tcPr marL="73152" marR="73152" marT="54864" marB="54864">
                    <a:solidFill>
                      <a:srgbClr val="FFFFFF"/>
                    </a:solidFill>
                  </a:tcPr>
                </a:tc>
                <a:tc>
                  <a:txBody>
                    <a:bodyPr/>
                    <a:lstStyle/>
                    <a:p>
                      <a:pPr>
                        <a:defRPr sz="1500">
                          <a:solidFill>
                            <a:srgbClr val="1B2A4E"/>
                          </a:solidFill>
                        </a:defRPr>
                      </a:pPr>
                      <a:r>
                        <a:t>0.0669</a:t>
                      </a:r>
                    </a:p>
                  </a:txBody>
                  <a:tcPr marL="73152" marR="73152" marT="54864" marB="54864">
                    <a:solidFill>
                      <a:srgbClr val="FFFFFF"/>
                    </a:solidFill>
                  </a:tcPr>
                </a:tc>
              </a:tr>
              <a:tr h="475488">
                <a:tc>
                  <a:txBody>
                    <a:bodyPr/>
                    <a:lstStyle/>
                    <a:p>
                      <a:pPr>
                        <a:defRPr sz="1500">
                          <a:solidFill>
                            <a:srgbClr val="1B2A4E"/>
                          </a:solidFill>
                        </a:defRPr>
                      </a:pPr>
                      <a:r>
                        <a:t>MF + S1</a:t>
                      </a:r>
                    </a:p>
                  </a:txBody>
                  <a:tcPr marL="73152" marR="73152" marT="54864" marB="54864">
                    <a:solidFill>
                      <a:srgbClr val="F7F4ED"/>
                    </a:solidFill>
                  </a:tcPr>
                </a:tc>
                <a:tc>
                  <a:txBody>
                    <a:bodyPr/>
                    <a:lstStyle/>
                    <a:p>
                      <a:pPr>
                        <a:defRPr sz="1500">
                          <a:solidFill>
                            <a:srgbClr val="1B2A4E"/>
                          </a:solidFill>
                        </a:defRPr>
                      </a:pPr>
                      <a:r>
                        <a:t>0.0654</a:t>
                      </a:r>
                    </a:p>
                  </a:txBody>
                  <a:tcPr marL="73152" marR="73152" marT="54864" marB="54864">
                    <a:solidFill>
                      <a:srgbClr val="F7F4ED"/>
                    </a:solidFill>
                  </a:tcPr>
                </a:tc>
                <a:tc>
                  <a:txBody>
                    <a:bodyPr/>
                    <a:lstStyle/>
                    <a:p>
                      <a:pPr>
                        <a:defRPr sz="1500">
                          <a:solidFill>
                            <a:srgbClr val="1B2A4E"/>
                          </a:solidFill>
                        </a:defRPr>
                      </a:pPr>
                      <a:r>
                        <a:t>0.0585</a:t>
                      </a:r>
                    </a:p>
                  </a:txBody>
                  <a:tcPr marL="73152" marR="73152" marT="54864" marB="54864">
                    <a:solidFill>
                      <a:srgbClr val="F7F4ED"/>
                    </a:solidFill>
                  </a:tcPr>
                </a:tc>
                <a:tc>
                  <a:txBody>
                    <a:bodyPr/>
                    <a:lstStyle/>
                    <a:p>
                      <a:pPr>
                        <a:defRPr sz="1500">
                          <a:solidFill>
                            <a:srgbClr val="1B2A4E"/>
                          </a:solidFill>
                        </a:defRPr>
                      </a:pPr>
                      <a:r>
                        <a:t>0.5434</a:t>
                      </a:r>
                    </a:p>
                  </a:txBody>
                  <a:tcPr marL="73152" marR="73152" marT="54864" marB="54864">
                    <a:solidFill>
                      <a:srgbClr val="F7F4ED"/>
                    </a:solidFill>
                  </a:tcPr>
                </a:tc>
                <a:tc>
                  <a:txBody>
                    <a:bodyPr/>
                    <a:lstStyle/>
                    <a:p>
                      <a:pPr>
                        <a:defRPr sz="1500">
                          <a:solidFill>
                            <a:srgbClr val="1B2A4E"/>
                          </a:solidFill>
                        </a:defRPr>
                      </a:pPr>
                      <a:r>
                        <a:t>2.7804</a:t>
                      </a:r>
                    </a:p>
                  </a:txBody>
                  <a:tcPr marL="73152" marR="73152" marT="54864" marB="54864">
                    <a:solidFill>
                      <a:srgbClr val="F7F4ED"/>
                    </a:solidFill>
                  </a:tcPr>
                </a:tc>
                <a:tc>
                  <a:txBody>
                    <a:bodyPr/>
                    <a:lstStyle/>
                    <a:p>
                      <a:pPr>
                        <a:defRPr sz="1500">
                          <a:solidFill>
                            <a:srgbClr val="1B2A4E"/>
                          </a:solidFill>
                        </a:defRPr>
                      </a:pPr>
                      <a:r>
                        <a:t>0.1538</a:t>
                      </a:r>
                    </a:p>
                  </a:txBody>
                  <a:tcPr marL="73152" marR="73152" marT="54864" marB="54864">
                    <a:solidFill>
                      <a:srgbClr val="F7F4ED"/>
                    </a:solidFill>
                  </a:tcPr>
                </a:tc>
              </a:tr>
              <a:tr h="475488">
                <a:tc>
                  <a:txBody>
                    <a:bodyPr/>
                    <a:lstStyle/>
                    <a:p>
                      <a:pPr>
                        <a:defRPr sz="1500">
                          <a:solidFill>
                            <a:srgbClr val="1B2A4E"/>
                          </a:solidFill>
                        </a:defRPr>
                      </a:pPr>
                      <a:r>
                        <a:t>MF + S2</a:t>
                      </a:r>
                    </a:p>
                  </a:txBody>
                  <a:tcPr marL="73152" marR="73152" marT="54864" marB="54864">
                    <a:solidFill>
                      <a:srgbClr val="FFFFFF"/>
                    </a:solidFill>
                  </a:tcPr>
                </a:tc>
                <a:tc>
                  <a:txBody>
                    <a:bodyPr/>
                    <a:lstStyle/>
                    <a:p>
                      <a:pPr>
                        <a:defRPr sz="1500">
                          <a:solidFill>
                            <a:srgbClr val="1B2A4E"/>
                          </a:solidFill>
                        </a:defRPr>
                      </a:pPr>
                      <a:r>
                        <a:t>0.0483</a:t>
                      </a:r>
                    </a:p>
                  </a:txBody>
                  <a:tcPr marL="73152" marR="73152" marT="54864" marB="54864">
                    <a:solidFill>
                      <a:srgbClr val="FFFFFF"/>
                    </a:solidFill>
                  </a:tcPr>
                </a:tc>
                <a:tc>
                  <a:txBody>
                    <a:bodyPr/>
                    <a:lstStyle/>
                    <a:p>
                      <a:pPr>
                        <a:defRPr sz="1500">
                          <a:solidFill>
                            <a:srgbClr val="1B2A4E"/>
                          </a:solidFill>
                        </a:defRPr>
                      </a:pPr>
                      <a:r>
                        <a:t>0.0462</a:t>
                      </a:r>
                    </a:p>
                  </a:txBody>
                  <a:tcPr marL="73152" marR="73152" marT="54864" marB="54864">
                    <a:solidFill>
                      <a:srgbClr val="FFFFFF"/>
                    </a:solidFill>
                  </a:tcPr>
                </a:tc>
                <a:tc>
                  <a:txBody>
                    <a:bodyPr/>
                    <a:lstStyle/>
                    <a:p>
                      <a:pPr>
                        <a:defRPr sz="1500">
                          <a:solidFill>
                            <a:srgbClr val="1B2A4E"/>
                          </a:solidFill>
                        </a:defRPr>
                      </a:pPr>
                      <a:r>
                        <a:t>0.5165</a:t>
                      </a:r>
                    </a:p>
                  </a:txBody>
                  <a:tcPr marL="73152" marR="73152" marT="54864" marB="54864">
                    <a:solidFill>
                      <a:srgbClr val="FFFFFF"/>
                    </a:solidFill>
                  </a:tcPr>
                </a:tc>
                <a:tc>
                  <a:txBody>
                    <a:bodyPr/>
                    <a:lstStyle/>
                    <a:p>
                      <a:pPr>
                        <a:defRPr sz="1500">
                          <a:solidFill>
                            <a:srgbClr val="1B2A4E"/>
                          </a:solidFill>
                        </a:defRPr>
                      </a:pPr>
                      <a:r>
                        <a:t>2.9223</a:t>
                      </a:r>
                    </a:p>
                  </a:txBody>
                  <a:tcPr marL="73152" marR="73152" marT="54864" marB="54864">
                    <a:solidFill>
                      <a:srgbClr val="FFFFFF"/>
                    </a:solidFill>
                  </a:tcPr>
                </a:tc>
                <a:tc>
                  <a:txBody>
                    <a:bodyPr/>
                    <a:lstStyle/>
                    <a:p>
                      <a:pPr>
                        <a:defRPr sz="1500">
                          <a:solidFill>
                            <a:srgbClr val="1B2A4E"/>
                          </a:solidFill>
                        </a:defRPr>
                      </a:pPr>
                      <a:r>
                        <a:t>0.2900</a:t>
                      </a:r>
                    </a:p>
                  </a:txBody>
                  <a:tcPr marL="73152" marR="73152" marT="54864" marB="54864">
                    <a:solidFill>
                      <a:srgbClr val="FFFFFF"/>
                    </a:solidFill>
                  </a:tcPr>
                </a:tc>
              </a:tr>
              <a:tr h="475488">
                <a:tc>
                  <a:txBody>
                    <a:bodyPr/>
                    <a:lstStyle/>
                    <a:p>
                      <a:pPr>
                        <a:defRPr sz="1500">
                          <a:solidFill>
                            <a:srgbClr val="1B2A4E"/>
                          </a:solidFill>
                        </a:defRPr>
                      </a:pPr>
                      <a:r>
                        <a:t>MF + S1 + S2</a:t>
                      </a:r>
                    </a:p>
                  </a:txBody>
                  <a:tcPr marL="73152" marR="73152" marT="54864" marB="54864">
                    <a:solidFill>
                      <a:srgbClr val="F7F4ED"/>
                    </a:solidFill>
                  </a:tcPr>
                </a:tc>
                <a:tc>
                  <a:txBody>
                    <a:bodyPr/>
                    <a:lstStyle/>
                    <a:p>
                      <a:pPr>
                        <a:defRPr sz="1500">
                          <a:solidFill>
                            <a:srgbClr val="1B2A4E"/>
                          </a:solidFill>
                        </a:defRPr>
                      </a:pPr>
                      <a:r>
                        <a:t>0.0375</a:t>
                      </a:r>
                    </a:p>
                  </a:txBody>
                  <a:tcPr marL="73152" marR="73152" marT="54864" marB="54864">
                    <a:solidFill>
                      <a:srgbClr val="F7F4ED"/>
                    </a:solidFill>
                  </a:tcPr>
                </a:tc>
                <a:tc>
                  <a:txBody>
                    <a:bodyPr/>
                    <a:lstStyle/>
                    <a:p>
                      <a:pPr>
                        <a:defRPr sz="1500">
                          <a:solidFill>
                            <a:srgbClr val="1B2A4E"/>
                          </a:solidFill>
                        </a:defRPr>
                      </a:pPr>
                      <a:r>
                        <a:t>0.0375</a:t>
                      </a:r>
                    </a:p>
                  </a:txBody>
                  <a:tcPr marL="73152" marR="73152" marT="54864" marB="54864">
                    <a:solidFill>
                      <a:srgbClr val="F7F4ED"/>
                    </a:solidFill>
                  </a:tcPr>
                </a:tc>
                <a:tc>
                  <a:txBody>
                    <a:bodyPr/>
                    <a:lstStyle/>
                    <a:p>
                      <a:pPr>
                        <a:defRPr sz="1500">
                          <a:solidFill>
                            <a:srgbClr val="1B2A4E"/>
                          </a:solidFill>
                        </a:defRPr>
                      </a:pPr>
                      <a:r>
                        <a:t>0.4660</a:t>
                      </a:r>
                    </a:p>
                  </a:txBody>
                  <a:tcPr marL="73152" marR="73152" marT="54864" marB="54864">
                    <a:solidFill>
                      <a:srgbClr val="F7F4ED"/>
                    </a:solidFill>
                  </a:tcPr>
                </a:tc>
                <a:tc>
                  <a:txBody>
                    <a:bodyPr/>
                    <a:lstStyle/>
                    <a:p>
                      <a:pPr>
                        <a:defRPr sz="1500">
                          <a:solidFill>
                            <a:srgbClr val="1B2A4E"/>
                          </a:solidFill>
                        </a:defRPr>
                      </a:pPr>
                      <a:r>
                        <a:t>3.5474</a:t>
                      </a:r>
                    </a:p>
                  </a:txBody>
                  <a:tcPr marL="73152" marR="73152" marT="54864" marB="54864">
                    <a:solidFill>
                      <a:srgbClr val="F7F4ED"/>
                    </a:solidFill>
                  </a:tcPr>
                </a:tc>
                <a:tc>
                  <a:txBody>
                    <a:bodyPr/>
                    <a:lstStyle/>
                    <a:p>
                      <a:pPr>
                        <a:defRPr sz="1500">
                          <a:solidFill>
                            <a:srgbClr val="1B2A4E"/>
                          </a:solidFill>
                        </a:defRPr>
                      </a:pPr>
                      <a:r>
                        <a:t>0.3495</a:t>
                      </a:r>
                    </a:p>
                  </a:txBody>
                  <a:tcPr marL="73152" marR="73152" marT="54864" marB="54864">
                    <a:solidFill>
                      <a:srgbClr val="F7F4ED"/>
                    </a:solidFill>
                  </a:tcPr>
                </a:tc>
              </a:tr>
            </a:tbl>
          </a:graphicData>
        </a:graphic>
      </p:graphicFrame>
      <p:sp>
        <p:nvSpPr>
          <p:cNvPr id="5" name="Rounded Rectangle 4"/>
          <p:cNvSpPr/>
          <p:nvPr/>
        </p:nvSpPr>
        <p:spPr>
          <a:xfrm>
            <a:off x="548640" y="4023360"/>
            <a:ext cx="3611880" cy="2194560"/>
          </a:xfrm>
          <a:prstGeom prst="roundRect">
            <a:avLst/>
          </a:prstGeom>
          <a:solidFill>
            <a:srgbClr val="FFFFFF"/>
          </a:solidFill>
          <a:ln w="22860">
            <a:solidFill>
              <a:srgbClr val="E58A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4023360"/>
            <a:ext cx="164592" cy="2194560"/>
          </a:xfrm>
          <a:prstGeom prst="rect">
            <a:avLst/>
          </a:prstGeom>
          <a:solidFill>
            <a:srgbClr val="E58A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4160520"/>
            <a:ext cx="3246120" cy="411480"/>
          </a:xfrm>
          <a:prstGeom prst="rect">
            <a:avLst/>
          </a:prstGeom>
          <a:noFill/>
        </p:spPr>
        <p:txBody>
          <a:bodyPr wrap="none">
            <a:spAutoFit/>
          </a:bodyPr>
          <a:lstStyle/>
          <a:p>
            <a:pPr>
              <a:defRPr sz="1600" b="1">
                <a:solidFill>
                  <a:srgbClr val="1B2A4E"/>
                </a:solidFill>
              </a:defRPr>
            </a:pPr>
            <a:r>
              <a:t>S1 wins accuracy</a:t>
            </a:r>
          </a:p>
        </p:txBody>
      </p:sp>
      <p:sp>
        <p:nvSpPr>
          <p:cNvPr id="8" name="TextBox 7"/>
          <p:cNvSpPr txBox="1"/>
          <p:nvPr/>
        </p:nvSpPr>
        <p:spPr>
          <a:xfrm>
            <a:off x="822960" y="4572000"/>
            <a:ext cx="3246120" cy="1554480"/>
          </a:xfrm>
          <a:prstGeom prst="rect">
            <a:avLst/>
          </a:prstGeom>
          <a:noFill/>
        </p:spPr>
        <p:txBody>
          <a:bodyPr wrap="square">
            <a:spAutoFit/>
          </a:bodyPr>
          <a:lstStyle/>
          <a:p>
            <a:pPr>
              <a:spcAft>
                <a:spcPts val="400"/>
              </a:spcAft>
              <a:defRPr sz="1400">
                <a:solidFill>
                  <a:srgbClr val="555555"/>
                </a:solidFill>
              </a:defRPr>
            </a:pPr>
            <a:r>
              <a:t>NDCG up 19 %, Recall up 37 %. Anchoring retrieval to the user's profile beats pure CF popularity on a sparse dataset like ML-100K.</a:t>
            </a:r>
          </a:p>
        </p:txBody>
      </p:sp>
      <p:sp>
        <p:nvSpPr>
          <p:cNvPr id="9" name="Rounded Rectangle 8"/>
          <p:cNvSpPr/>
          <p:nvPr/>
        </p:nvSpPr>
        <p:spPr>
          <a:xfrm>
            <a:off x="4297680" y="4023360"/>
            <a:ext cx="3611880" cy="2194560"/>
          </a:xfrm>
          <a:prstGeom prst="roundRect">
            <a:avLst/>
          </a:prstGeom>
          <a:solidFill>
            <a:srgbClr val="FFFFFF"/>
          </a:solidFill>
          <a:ln w="22860">
            <a:solidFill>
              <a:srgbClr val="4DA8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297680" y="4023360"/>
            <a:ext cx="164592" cy="2194560"/>
          </a:xfrm>
          <a:prstGeom prst="rect">
            <a:avLst/>
          </a:prstGeom>
          <a:solidFill>
            <a:srgbClr val="4DA8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4160520"/>
            <a:ext cx="3246120" cy="411480"/>
          </a:xfrm>
          <a:prstGeom prst="rect">
            <a:avLst/>
          </a:prstGeom>
          <a:noFill/>
        </p:spPr>
        <p:txBody>
          <a:bodyPr wrap="none">
            <a:spAutoFit/>
          </a:bodyPr>
          <a:lstStyle/>
          <a:p>
            <a:pPr>
              <a:defRPr sz="1600" b="1">
                <a:solidFill>
                  <a:srgbClr val="1B2A4E"/>
                </a:solidFill>
              </a:defRPr>
            </a:pPr>
            <a:r>
              <a:t>S2 wins coverage</a:t>
            </a:r>
          </a:p>
        </p:txBody>
      </p:sp>
      <p:sp>
        <p:nvSpPr>
          <p:cNvPr id="12" name="TextBox 11"/>
          <p:cNvSpPr txBox="1"/>
          <p:nvPr/>
        </p:nvSpPr>
        <p:spPr>
          <a:xfrm>
            <a:off x="4572000" y="4572000"/>
            <a:ext cx="3246120" cy="1554480"/>
          </a:xfrm>
          <a:prstGeom prst="rect">
            <a:avLst/>
          </a:prstGeom>
          <a:noFill/>
        </p:spPr>
        <p:txBody>
          <a:bodyPr wrap="square">
            <a:spAutoFit/>
          </a:bodyPr>
          <a:lstStyle/>
          <a:p>
            <a:pPr>
              <a:spcAft>
                <a:spcPts val="400"/>
              </a:spcAft>
              <a:defRPr sz="1400">
                <a:solidFill>
                  <a:srgbClr val="555555"/>
                </a:solidFill>
              </a:defRPr>
            </a:pPr>
            <a:r>
              <a:t>Coverage up 333 %, Novelty up 13 %. Cluster conditioning routes different users into different parts of the catalog.</a:t>
            </a:r>
          </a:p>
        </p:txBody>
      </p:sp>
      <p:sp>
        <p:nvSpPr>
          <p:cNvPr id="13" name="Rounded Rectangle 12"/>
          <p:cNvSpPr/>
          <p:nvPr/>
        </p:nvSpPr>
        <p:spPr>
          <a:xfrm>
            <a:off x="8046720" y="4023360"/>
            <a:ext cx="3566160" cy="2194560"/>
          </a:xfrm>
          <a:prstGeom prst="roundRect">
            <a:avLst/>
          </a:prstGeom>
          <a:solidFill>
            <a:srgbClr val="FFFFFF"/>
          </a:solidFill>
          <a:ln w="22860">
            <a:solidFill>
              <a:srgbClr val="1B2A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46720" y="4023360"/>
            <a:ext cx="164592" cy="2194560"/>
          </a:xfrm>
          <a:prstGeom prst="rect">
            <a:avLst/>
          </a:prstGeom>
          <a:solidFill>
            <a:srgbClr val="1B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4160520"/>
            <a:ext cx="3200400" cy="411480"/>
          </a:xfrm>
          <a:prstGeom prst="rect">
            <a:avLst/>
          </a:prstGeom>
          <a:noFill/>
        </p:spPr>
        <p:txBody>
          <a:bodyPr wrap="none">
            <a:spAutoFit/>
          </a:bodyPr>
          <a:lstStyle/>
          <a:p>
            <a:pPr>
              <a:defRPr sz="1600" b="1">
                <a:solidFill>
                  <a:srgbClr val="1B2A4E"/>
                </a:solidFill>
              </a:defRPr>
            </a:pPr>
            <a:r>
              <a:t>Both — peak exploration</a:t>
            </a:r>
          </a:p>
        </p:txBody>
      </p:sp>
      <p:sp>
        <p:nvSpPr>
          <p:cNvPr id="16" name="TextBox 15"/>
          <p:cNvSpPr txBox="1"/>
          <p:nvPr/>
        </p:nvSpPr>
        <p:spPr>
          <a:xfrm>
            <a:off x="8321040" y="4572000"/>
            <a:ext cx="3200400" cy="1554480"/>
          </a:xfrm>
          <a:prstGeom prst="rect">
            <a:avLst/>
          </a:prstGeom>
          <a:noFill/>
        </p:spPr>
        <p:txBody>
          <a:bodyPr wrap="square">
            <a:spAutoFit/>
          </a:bodyPr>
          <a:lstStyle/>
          <a:p>
            <a:pPr>
              <a:spcAft>
                <a:spcPts val="400"/>
              </a:spcAft>
              <a:defRPr sz="1400">
                <a:solidFill>
                  <a:srgbClr val="555555"/>
                </a:solidFill>
              </a:defRPr>
            </a:pPr>
            <a:r>
              <a:t>Coverage 35 %, Novelty 3.55. Lowest NDCG. The two layers compose multiplicatively along the explore-exploit axis.</a:t>
            </a:r>
          </a:p>
        </p:txBody>
      </p:sp>
      <p:sp>
        <p:nvSpPr>
          <p:cNvPr id="17" name="TextBox 16"/>
          <p:cNvSpPr txBox="1"/>
          <p:nvPr/>
        </p:nvSpPr>
        <p:spPr>
          <a:xfrm>
            <a:off x="457200" y="6492240"/>
            <a:ext cx="11247120" cy="274320"/>
          </a:xfrm>
          <a:prstGeom prst="rect">
            <a:avLst/>
          </a:prstGeom>
          <a:noFill/>
        </p:spPr>
        <p:txBody>
          <a:bodyPr wrap="none">
            <a:spAutoFit/>
          </a:bodyPr>
          <a:lstStyle/>
          <a:p>
            <a:pPr>
              <a:defRPr sz="1000">
                <a:solidFill>
                  <a:srgbClr val="555555"/>
                </a:solidFill>
              </a:defRPr>
            </a:pPr>
            <a:r>
              <a:t>AI Life Recommender   ·   CMPE 256   ·   18 / 22</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548640"/>
          </a:xfrm>
          <a:prstGeom prst="rect">
            <a:avLst/>
          </a:prstGeom>
          <a:noFill/>
        </p:spPr>
        <p:txBody>
          <a:bodyPr wrap="none">
            <a:spAutoFit/>
          </a:bodyPr>
          <a:lstStyle/>
          <a:p>
            <a:pPr>
              <a:defRPr sz="2600" b="1">
                <a:solidFill>
                  <a:srgbClr val="FFFFFF"/>
                </a:solidFill>
              </a:defRPr>
            </a:pPr>
            <a:r>
              <a:t>Contribution Map</a:t>
            </a:r>
          </a:p>
        </p:txBody>
      </p:sp>
      <p:sp>
        <p:nvSpPr>
          <p:cNvPr id="4" name="TextBox 3"/>
          <p:cNvSpPr txBox="1"/>
          <p:nvPr/>
        </p:nvSpPr>
        <p:spPr>
          <a:xfrm>
            <a:off x="457200" y="868680"/>
            <a:ext cx="11247120" cy="365760"/>
          </a:xfrm>
          <a:prstGeom prst="rect">
            <a:avLst/>
          </a:prstGeom>
          <a:noFill/>
        </p:spPr>
        <p:txBody>
          <a:bodyPr wrap="none">
            <a:spAutoFit/>
          </a:bodyPr>
          <a:lstStyle/>
          <a:p>
            <a:pPr>
              <a:defRPr sz="1400" i="1">
                <a:solidFill>
                  <a:srgbClr val="555555"/>
                </a:solidFill>
              </a:defRPr>
            </a:pPr>
            <a:r>
              <a:t>Who built what</a:t>
            </a:r>
          </a:p>
        </p:txBody>
      </p:sp>
      <p:pic>
        <p:nvPicPr>
          <p:cNvPr id="5" name="Picture 4" descr="contributions.png"/>
          <p:cNvPicPr>
            <a:picLocks noChangeAspect="1"/>
          </p:cNvPicPr>
          <p:nvPr/>
        </p:nvPicPr>
        <p:blipFill>
          <a:blip r:embed="rId2"/>
          <a:stretch>
            <a:fillRect/>
          </a:stretch>
        </p:blipFill>
        <p:spPr>
          <a:xfrm>
            <a:off x="365760" y="1188720"/>
            <a:ext cx="11430000" cy="6563212"/>
          </a:xfrm>
          <a:prstGeom prst="rect">
            <a:avLst/>
          </a:prstGeom>
        </p:spPr>
      </p:pic>
      <p:sp>
        <p:nvSpPr>
          <p:cNvPr id="6" name="TextBox 5"/>
          <p:cNvSpPr txBox="1"/>
          <p:nvPr/>
        </p:nvSpPr>
        <p:spPr>
          <a:xfrm>
            <a:off x="457200" y="6492240"/>
            <a:ext cx="11247120" cy="274320"/>
          </a:xfrm>
          <a:prstGeom prst="rect">
            <a:avLst/>
          </a:prstGeom>
          <a:noFill/>
        </p:spPr>
        <p:txBody>
          <a:bodyPr wrap="none">
            <a:spAutoFit/>
          </a:bodyPr>
          <a:lstStyle/>
          <a:p>
            <a:pPr>
              <a:defRPr sz="1000">
                <a:solidFill>
                  <a:srgbClr val="555555"/>
                </a:solidFill>
              </a:defRPr>
            </a:pPr>
            <a:r>
              <a:t>AI Life Recommender   ·   CMPE 256   ·   19 / 22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548640"/>
          </a:xfrm>
          <a:prstGeom prst="rect">
            <a:avLst/>
          </a:prstGeom>
          <a:noFill/>
        </p:spPr>
        <p:txBody>
          <a:bodyPr wrap="none">
            <a:spAutoFit/>
          </a:bodyPr>
          <a:lstStyle/>
          <a:p>
            <a:pPr>
              <a:defRPr sz="2600" b="1">
                <a:solidFill>
                  <a:srgbClr val="FFFFFF"/>
                </a:solidFill>
              </a:defRPr>
            </a:pPr>
            <a:r>
              <a:t>Live Demo</a:t>
            </a:r>
          </a:p>
        </p:txBody>
      </p:sp>
      <p:sp>
        <p:nvSpPr>
          <p:cNvPr id="4" name="TextBox 3"/>
          <p:cNvSpPr txBox="1"/>
          <p:nvPr/>
        </p:nvSpPr>
        <p:spPr>
          <a:xfrm>
            <a:off x="457200" y="868680"/>
            <a:ext cx="11247120" cy="365760"/>
          </a:xfrm>
          <a:prstGeom prst="rect">
            <a:avLst/>
          </a:prstGeom>
          <a:noFill/>
        </p:spPr>
        <p:txBody>
          <a:bodyPr wrap="none">
            <a:spAutoFit/>
          </a:bodyPr>
          <a:lstStyle/>
          <a:p>
            <a:pPr>
              <a:defRPr sz="1400" i="1">
                <a:solidFill>
                  <a:srgbClr val="555555"/>
                </a:solidFill>
              </a:defRPr>
            </a:pPr>
            <a:r>
              <a:t>Baseline vs. augmented on the same user intent</a:t>
            </a:r>
          </a:p>
        </p:txBody>
      </p:sp>
      <p:sp>
        <p:nvSpPr>
          <p:cNvPr id="5" name="Rounded Rectangle 4"/>
          <p:cNvSpPr/>
          <p:nvPr/>
        </p:nvSpPr>
        <p:spPr>
          <a:xfrm>
            <a:off x="548640" y="1371600"/>
            <a:ext cx="5486400" cy="4572000"/>
          </a:xfrm>
          <a:prstGeom prst="roundRect">
            <a:avLst/>
          </a:prstGeom>
          <a:solidFill>
            <a:srgbClr val="FFFFFF"/>
          </a:solidFill>
          <a:ln w="22860">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371600"/>
            <a:ext cx="164592" cy="4572000"/>
          </a:xfrm>
          <a:prstGeom prst="rect">
            <a:avLst/>
          </a:prstGeom>
          <a:solidFill>
            <a:srgbClr val="5555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508760"/>
            <a:ext cx="5120640" cy="411480"/>
          </a:xfrm>
          <a:prstGeom prst="rect">
            <a:avLst/>
          </a:prstGeom>
          <a:noFill/>
        </p:spPr>
        <p:txBody>
          <a:bodyPr wrap="none">
            <a:spAutoFit/>
          </a:bodyPr>
          <a:lstStyle/>
          <a:p>
            <a:pPr>
              <a:defRPr sz="1600" b="1">
                <a:solidFill>
                  <a:srgbClr val="1B2A4E"/>
                </a:solidFill>
              </a:defRPr>
            </a:pPr>
            <a:r>
              <a:t>Baseline — Adam's HF Space</a:t>
            </a:r>
          </a:p>
        </p:txBody>
      </p:sp>
      <p:sp>
        <p:nvSpPr>
          <p:cNvPr id="8" name="TextBox 7"/>
          <p:cNvSpPr txBox="1"/>
          <p:nvPr/>
        </p:nvSpPr>
        <p:spPr>
          <a:xfrm>
            <a:off x="822960" y="1920240"/>
            <a:ext cx="5120640" cy="3931920"/>
          </a:xfrm>
          <a:prstGeom prst="rect">
            <a:avLst/>
          </a:prstGeom>
          <a:noFill/>
        </p:spPr>
        <p:txBody>
          <a:bodyPr wrap="square">
            <a:spAutoFit/>
          </a:bodyPr>
          <a:lstStyle/>
          <a:p>
            <a:pPr>
              <a:spcAft>
                <a:spcPts val="400"/>
              </a:spcAft>
              <a:defRPr sz="1400">
                <a:solidFill>
                  <a:srgbClr val="555555"/>
                </a:solidFill>
              </a:defRPr>
            </a:pPr>
            <a:r>
              <a:t>huggingface.co/spaces/asabry1233/ai-recommender</a:t>
            </a:r>
          </a:p>
          <a:p>
            <a:pPr>
              <a:spcAft>
                <a:spcPts val="400"/>
              </a:spcAft>
              <a:defRPr sz="1400">
                <a:solidFill>
                  <a:srgbClr val="555555"/>
                </a:solidFill>
              </a:defRPr>
            </a:pPr>
          </a:p>
          <a:p>
            <a:pPr>
              <a:spcAft>
                <a:spcPts val="400"/>
              </a:spcAft>
              <a:defRPr sz="1400">
                <a:solidFill>
                  <a:srgbClr val="555555"/>
                </a:solidFill>
              </a:defRPr>
            </a:pPr>
            <a:r>
              <a:t>MF + LangGraph + LLM agents.</a:t>
            </a:r>
          </a:p>
          <a:p>
            <a:pPr>
              <a:spcAft>
                <a:spcPts val="400"/>
              </a:spcAft>
              <a:defRPr sz="1400">
                <a:solidFill>
                  <a:srgbClr val="555555"/>
                </a:solidFill>
              </a:defRPr>
            </a:pPr>
            <a:r>
              <a:t>No semantic retrieval. No cluster conditioning.</a:t>
            </a:r>
          </a:p>
        </p:txBody>
      </p:sp>
      <p:sp>
        <p:nvSpPr>
          <p:cNvPr id="9" name="Rounded Rectangle 8"/>
          <p:cNvSpPr/>
          <p:nvPr/>
        </p:nvSpPr>
        <p:spPr>
          <a:xfrm>
            <a:off x="6126480" y="1371600"/>
            <a:ext cx="5486400" cy="4572000"/>
          </a:xfrm>
          <a:prstGeom prst="roundRect">
            <a:avLst/>
          </a:prstGeom>
          <a:solidFill>
            <a:srgbClr val="FFFFFF"/>
          </a:solidFill>
          <a:ln w="22860">
            <a:solidFill>
              <a:srgbClr val="E58A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0" y="1371600"/>
            <a:ext cx="164592" cy="4572000"/>
          </a:xfrm>
          <a:prstGeom prst="rect">
            <a:avLst/>
          </a:prstGeom>
          <a:solidFill>
            <a:srgbClr val="E58A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508760"/>
            <a:ext cx="5120640" cy="411480"/>
          </a:xfrm>
          <a:prstGeom prst="rect">
            <a:avLst/>
          </a:prstGeom>
          <a:noFill/>
        </p:spPr>
        <p:txBody>
          <a:bodyPr wrap="none">
            <a:spAutoFit/>
          </a:bodyPr>
          <a:lstStyle/>
          <a:p>
            <a:pPr>
              <a:defRPr sz="1600" b="1">
                <a:solidFill>
                  <a:srgbClr val="1B2A4E"/>
                </a:solidFill>
              </a:defRPr>
            </a:pPr>
            <a:r>
              <a:t>Augmented — comparison build</a:t>
            </a:r>
          </a:p>
        </p:txBody>
      </p:sp>
      <p:sp>
        <p:nvSpPr>
          <p:cNvPr id="12" name="TextBox 11"/>
          <p:cNvSpPr txBox="1"/>
          <p:nvPr/>
        </p:nvSpPr>
        <p:spPr>
          <a:xfrm>
            <a:off x="6400800" y="1920240"/>
            <a:ext cx="5120640" cy="3931920"/>
          </a:xfrm>
          <a:prstGeom prst="rect">
            <a:avLst/>
          </a:prstGeom>
          <a:noFill/>
        </p:spPr>
        <p:txBody>
          <a:bodyPr wrap="square">
            <a:spAutoFit/>
          </a:bodyPr>
          <a:lstStyle/>
          <a:p>
            <a:pPr>
              <a:spcAft>
                <a:spcPts val="400"/>
              </a:spcAft>
              <a:defRPr sz="1400">
                <a:solidFill>
                  <a:srgbClr val="555555"/>
                </a:solidFill>
              </a:defRPr>
            </a:pPr>
            <a:r>
              <a:t>Same pipeline with S1 + S2 toggled on.</a:t>
            </a:r>
          </a:p>
          <a:p>
            <a:pPr>
              <a:spcAft>
                <a:spcPts val="400"/>
              </a:spcAft>
              <a:defRPr sz="1400">
                <a:solidFill>
                  <a:srgbClr val="555555"/>
                </a:solidFill>
              </a:defRPr>
            </a:pPr>
          </a:p>
          <a:p>
            <a:pPr>
              <a:spcAft>
                <a:spcPts val="400"/>
              </a:spcAft>
              <a:defRPr sz="1400">
                <a:solidFill>
                  <a:srgbClr val="555555"/>
                </a:solidFill>
              </a:defRPr>
            </a:pPr>
            <a:r>
              <a:t>Side-by-side execution on the same intent shows the trade-off live.</a:t>
            </a:r>
          </a:p>
        </p:txBody>
      </p:sp>
      <p:sp>
        <p:nvSpPr>
          <p:cNvPr id="13" name="Rectangle 12"/>
          <p:cNvSpPr/>
          <p:nvPr/>
        </p:nvSpPr>
        <p:spPr>
          <a:xfrm>
            <a:off x="548640" y="6035040"/>
            <a:ext cx="11064240" cy="457200"/>
          </a:xfrm>
          <a:prstGeom prst="rect">
            <a:avLst/>
          </a:prstGeom>
          <a:solidFill>
            <a:srgbClr val="FFF4D9"/>
          </a:solidFill>
          <a:ln>
            <a:solidFill>
              <a:srgbClr val="E58A2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i="1">
                <a:solidFill>
                  <a:srgbClr val="555555"/>
                </a:solidFill>
              </a:defRPr>
            </a:pPr>
            <a:r>
              <a:t>[ PLACEHOLDER — live demo screenshots and 2-minute backup video to be captured before presentation ]</a:t>
            </a:r>
          </a:p>
        </p:txBody>
      </p:sp>
      <p:sp>
        <p:nvSpPr>
          <p:cNvPr id="14" name="TextBox 13"/>
          <p:cNvSpPr txBox="1"/>
          <p:nvPr/>
        </p:nvSpPr>
        <p:spPr>
          <a:xfrm>
            <a:off x="457200" y="6492240"/>
            <a:ext cx="11247120" cy="274320"/>
          </a:xfrm>
          <a:prstGeom prst="rect">
            <a:avLst/>
          </a:prstGeom>
          <a:noFill/>
        </p:spPr>
        <p:txBody>
          <a:bodyPr wrap="none">
            <a:spAutoFit/>
          </a:bodyPr>
          <a:lstStyle/>
          <a:p>
            <a:pPr>
              <a:defRPr sz="1000">
                <a:solidFill>
                  <a:srgbClr val="555555"/>
                </a:solidFill>
              </a:defRPr>
            </a:pPr>
            <a:r>
              <a:t>AI Life Recommender   ·   CMPE 256   ·   20 / 22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548640"/>
          </a:xfrm>
          <a:prstGeom prst="rect">
            <a:avLst/>
          </a:prstGeom>
          <a:noFill/>
        </p:spPr>
        <p:txBody>
          <a:bodyPr wrap="none">
            <a:spAutoFit/>
          </a:bodyPr>
          <a:lstStyle/>
          <a:p>
            <a:pPr>
              <a:defRPr sz="2600" b="1">
                <a:solidFill>
                  <a:srgbClr val="FFFFFF"/>
                </a:solidFill>
              </a:defRPr>
            </a:pPr>
            <a:r>
              <a:t>Lessons Learned &amp; Next Steps</a:t>
            </a:r>
          </a:p>
        </p:txBody>
      </p:sp>
      <p:sp>
        <p:nvSpPr>
          <p:cNvPr id="4" name="Rounded Rectangle 3"/>
          <p:cNvSpPr/>
          <p:nvPr/>
        </p:nvSpPr>
        <p:spPr>
          <a:xfrm>
            <a:off x="548640" y="1280160"/>
            <a:ext cx="5440680" cy="5029200"/>
          </a:xfrm>
          <a:prstGeom prst="roundRect">
            <a:avLst/>
          </a:prstGeom>
          <a:solidFill>
            <a:srgbClr val="FFFFFF"/>
          </a:solidFill>
          <a:ln w="22860">
            <a:solidFill>
              <a:srgbClr val="1B2A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280160"/>
            <a:ext cx="164592" cy="5029200"/>
          </a:xfrm>
          <a:prstGeom prst="rect">
            <a:avLst/>
          </a:prstGeom>
          <a:solidFill>
            <a:srgbClr val="1B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417320"/>
            <a:ext cx="5074920" cy="411480"/>
          </a:xfrm>
          <a:prstGeom prst="rect">
            <a:avLst/>
          </a:prstGeom>
          <a:noFill/>
        </p:spPr>
        <p:txBody>
          <a:bodyPr wrap="none">
            <a:spAutoFit/>
          </a:bodyPr>
          <a:lstStyle/>
          <a:p>
            <a:pPr>
              <a:defRPr sz="1600" b="1">
                <a:solidFill>
                  <a:srgbClr val="1B2A4E"/>
                </a:solidFill>
              </a:defRPr>
            </a:pPr>
            <a:r>
              <a:t>Lessons Learned</a:t>
            </a:r>
          </a:p>
        </p:txBody>
      </p:sp>
      <p:sp>
        <p:nvSpPr>
          <p:cNvPr id="7" name="TextBox 6"/>
          <p:cNvSpPr txBox="1"/>
          <p:nvPr/>
        </p:nvSpPr>
        <p:spPr>
          <a:xfrm>
            <a:off x="822960" y="1828800"/>
            <a:ext cx="5074920" cy="4389120"/>
          </a:xfrm>
          <a:prstGeom prst="rect">
            <a:avLst/>
          </a:prstGeom>
          <a:noFill/>
        </p:spPr>
        <p:txBody>
          <a:bodyPr wrap="square">
            <a:spAutoFit/>
          </a:bodyPr>
          <a:lstStyle/>
          <a:p>
            <a:pPr>
              <a:spcAft>
                <a:spcPts val="400"/>
              </a:spcAft>
              <a:defRPr sz="1300">
                <a:solidFill>
                  <a:srgbClr val="555555"/>
                </a:solidFill>
              </a:defRPr>
            </a:pPr>
            <a:r>
              <a:t>Offline rating metrics under-represent discovery objectives — report coverage and novelty alongside NDCG.</a:t>
            </a:r>
          </a:p>
          <a:p>
            <a:pPr>
              <a:spcAft>
                <a:spcPts val="400"/>
              </a:spcAft>
              <a:defRPr sz="1300">
                <a:solidFill>
                  <a:srgbClr val="555555"/>
                </a:solidFill>
              </a:defRPr>
            </a:pPr>
          </a:p>
          <a:p>
            <a:pPr>
              <a:spcAft>
                <a:spcPts val="400"/>
              </a:spcAft>
              <a:defRPr sz="1300">
                <a:solidFill>
                  <a:srgbClr val="555555"/>
                </a:solidFill>
              </a:defRPr>
            </a:pPr>
            <a:r>
              <a:t>The semantic layer (S1) cleanly addresses cold-start without retraining.</a:t>
            </a:r>
          </a:p>
          <a:p>
            <a:pPr>
              <a:spcAft>
                <a:spcPts val="400"/>
              </a:spcAft>
              <a:defRPr sz="1300">
                <a:solidFill>
                  <a:srgbClr val="555555"/>
                </a:solidFill>
              </a:defRPr>
            </a:pPr>
          </a:p>
          <a:p>
            <a:pPr>
              <a:spcAft>
                <a:spcPts val="400"/>
              </a:spcAft>
              <a:defRPr sz="1300">
                <a:solidFill>
                  <a:srgbClr val="555555"/>
                </a:solidFill>
              </a:defRPr>
            </a:pPr>
            <a:r>
              <a:t>LangGraph is the right level of the stack when the pipeline is a stateful graph, not a linear chain.</a:t>
            </a:r>
          </a:p>
          <a:p>
            <a:pPr>
              <a:spcAft>
                <a:spcPts val="400"/>
              </a:spcAft>
              <a:defRPr sz="1300">
                <a:solidFill>
                  <a:srgbClr val="555555"/>
                </a:solidFill>
              </a:defRPr>
            </a:pPr>
          </a:p>
          <a:p>
            <a:pPr>
              <a:spcAft>
                <a:spcPts val="400"/>
              </a:spcAft>
              <a:defRPr sz="1300">
                <a:solidFill>
                  <a:srgbClr val="555555"/>
                </a:solidFill>
              </a:defRPr>
            </a:pPr>
            <a:r>
              <a:t>The two hybrid layers compose without being redundant — different mechanisms, complementary effects.</a:t>
            </a:r>
          </a:p>
        </p:txBody>
      </p:sp>
      <p:sp>
        <p:nvSpPr>
          <p:cNvPr id="8" name="Rounded Rectangle 7"/>
          <p:cNvSpPr/>
          <p:nvPr/>
        </p:nvSpPr>
        <p:spPr>
          <a:xfrm>
            <a:off x="6172200" y="1280160"/>
            <a:ext cx="5440680" cy="5029200"/>
          </a:xfrm>
          <a:prstGeom prst="roundRect">
            <a:avLst/>
          </a:prstGeom>
          <a:solidFill>
            <a:srgbClr val="FFFFFF"/>
          </a:solidFill>
          <a:ln w="22860">
            <a:solidFill>
              <a:srgbClr val="E58A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72200" y="1280160"/>
            <a:ext cx="164592" cy="5029200"/>
          </a:xfrm>
          <a:prstGeom prst="rect">
            <a:avLst/>
          </a:prstGeom>
          <a:solidFill>
            <a:srgbClr val="E58A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417320"/>
            <a:ext cx="5074920" cy="411480"/>
          </a:xfrm>
          <a:prstGeom prst="rect">
            <a:avLst/>
          </a:prstGeom>
          <a:noFill/>
        </p:spPr>
        <p:txBody>
          <a:bodyPr wrap="none">
            <a:spAutoFit/>
          </a:bodyPr>
          <a:lstStyle/>
          <a:p>
            <a:pPr>
              <a:defRPr sz="1600" b="1">
                <a:solidFill>
                  <a:srgbClr val="1B2A4E"/>
                </a:solidFill>
              </a:defRPr>
            </a:pPr>
            <a:r>
              <a:t>Future Work</a:t>
            </a:r>
          </a:p>
        </p:txBody>
      </p:sp>
      <p:sp>
        <p:nvSpPr>
          <p:cNvPr id="11" name="TextBox 10"/>
          <p:cNvSpPr txBox="1"/>
          <p:nvPr/>
        </p:nvSpPr>
        <p:spPr>
          <a:xfrm>
            <a:off x="6446520" y="1828800"/>
            <a:ext cx="5074920" cy="4389120"/>
          </a:xfrm>
          <a:prstGeom prst="rect">
            <a:avLst/>
          </a:prstGeom>
          <a:noFill/>
        </p:spPr>
        <p:txBody>
          <a:bodyPr wrap="square">
            <a:spAutoFit/>
          </a:bodyPr>
          <a:lstStyle/>
          <a:p>
            <a:pPr>
              <a:spcAft>
                <a:spcPts val="400"/>
              </a:spcAft>
              <a:defRPr sz="1300">
                <a:solidFill>
                  <a:srgbClr val="555555"/>
                </a:solidFill>
              </a:defRPr>
            </a:pPr>
            <a:r>
              <a:t>Expose the entropy-triggered clarifying-question elicitation (primitive already implemented in S2).</a:t>
            </a:r>
          </a:p>
          <a:p>
            <a:pPr>
              <a:spcAft>
                <a:spcPts val="400"/>
              </a:spcAft>
              <a:defRPr sz="1300">
                <a:solidFill>
                  <a:srgbClr val="555555"/>
                </a:solidFill>
              </a:defRPr>
            </a:pPr>
          </a:p>
          <a:p>
            <a:pPr>
              <a:spcAft>
                <a:spcPts val="400"/>
              </a:spcAft>
              <a:defRPr sz="1300">
                <a:solidFill>
                  <a:srgbClr val="555555"/>
                </a:solidFill>
              </a:defRPr>
            </a:pPr>
            <a:r>
              <a:t>Online cluster discovery — spawn a new cluster when the current session matches none well.</a:t>
            </a:r>
          </a:p>
          <a:p>
            <a:pPr>
              <a:spcAft>
                <a:spcPts val="400"/>
              </a:spcAft>
              <a:defRPr sz="1300">
                <a:solidFill>
                  <a:srgbClr val="555555"/>
                </a:solidFill>
              </a:defRPr>
            </a:pPr>
          </a:p>
          <a:p>
            <a:pPr>
              <a:spcAft>
                <a:spcPts val="400"/>
              </a:spcAft>
              <a:defRPr sz="1300">
                <a:solidFill>
                  <a:srgbClr val="555555"/>
                </a:solidFill>
              </a:defRPr>
            </a:pPr>
            <a:r>
              <a:t>Swap the shallow joint-MF for a deep Two-Tower backbone (NeuMF / LightGCN).</a:t>
            </a:r>
          </a:p>
          <a:p>
            <a:pPr>
              <a:spcAft>
                <a:spcPts val="400"/>
              </a:spcAft>
              <a:defRPr sz="1300">
                <a:solidFill>
                  <a:srgbClr val="555555"/>
                </a:solidFill>
              </a:defRPr>
            </a:pPr>
          </a:p>
          <a:p>
            <a:pPr>
              <a:spcAft>
                <a:spcPts val="400"/>
              </a:spcAft>
              <a:defRPr sz="1300">
                <a:solidFill>
                  <a:srgbClr val="555555"/>
                </a:solidFill>
              </a:defRPr>
            </a:pPr>
            <a:r>
              <a:t>Domain expansion (music, fitness, podcasts) — S1 makes this free of cross-domain training data.</a:t>
            </a:r>
          </a:p>
        </p:txBody>
      </p:sp>
      <p:sp>
        <p:nvSpPr>
          <p:cNvPr id="12" name="TextBox 11"/>
          <p:cNvSpPr txBox="1"/>
          <p:nvPr/>
        </p:nvSpPr>
        <p:spPr>
          <a:xfrm>
            <a:off x="457200" y="6492240"/>
            <a:ext cx="11247120" cy="274320"/>
          </a:xfrm>
          <a:prstGeom prst="rect">
            <a:avLst/>
          </a:prstGeom>
          <a:noFill/>
        </p:spPr>
        <p:txBody>
          <a:bodyPr wrap="none">
            <a:spAutoFit/>
          </a:bodyPr>
          <a:lstStyle/>
          <a:p>
            <a:pPr>
              <a:defRPr sz="1000">
                <a:solidFill>
                  <a:srgbClr val="555555"/>
                </a:solidFill>
              </a:defRPr>
            </a:pPr>
            <a:r>
              <a:t>AI Life Recommender   ·   CMPE 256   ·   21 / 22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0"/>
          </a:xfrm>
          <a:prstGeom prst="rect">
            <a:avLst/>
          </a:prstGeom>
          <a:solidFill>
            <a:srgbClr val="1B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309360"/>
            <a:ext cx="12191695" cy="548640"/>
          </a:xfrm>
          <a:prstGeom prst="rect">
            <a:avLst/>
          </a:prstGeom>
          <a:solidFill>
            <a:srgbClr val="E58A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194560"/>
            <a:ext cx="11247120" cy="1371600"/>
          </a:xfrm>
          <a:prstGeom prst="rect">
            <a:avLst/>
          </a:prstGeom>
          <a:noFill/>
        </p:spPr>
        <p:txBody>
          <a:bodyPr wrap="square">
            <a:spAutoFit/>
          </a:bodyPr>
          <a:lstStyle/>
          <a:p>
            <a:pPr algn="ctr">
              <a:defRPr sz="5400" b="1" i="0">
                <a:solidFill>
                  <a:srgbClr val="1B2A4E"/>
                </a:solidFill>
              </a:defRPr>
            </a:pPr>
            <a:r>
              <a:t>Thank you — questions?</a:t>
            </a:r>
          </a:p>
        </p:txBody>
      </p:sp>
      <p:sp>
        <p:nvSpPr>
          <p:cNvPr id="5" name="TextBox 4"/>
          <p:cNvSpPr txBox="1"/>
          <p:nvPr/>
        </p:nvSpPr>
        <p:spPr>
          <a:xfrm>
            <a:off x="457200" y="3931920"/>
            <a:ext cx="11247120" cy="1371600"/>
          </a:xfrm>
          <a:prstGeom prst="rect">
            <a:avLst/>
          </a:prstGeom>
          <a:noFill/>
        </p:spPr>
        <p:txBody>
          <a:bodyPr wrap="square">
            <a:spAutoFit/>
          </a:bodyPr>
          <a:lstStyle/>
          <a:p>
            <a:pPr algn="ctr">
              <a:defRPr sz="1800" b="0" i="0">
                <a:solidFill>
                  <a:srgbClr val="1B2A4E"/>
                </a:solidFill>
              </a:defRPr>
            </a:pPr>
            <a:r>
              <a:t>Repository:   github.com/AdamSabry1233/AI-Life-Recommender-</a:t>
            </a:r>
          </a:p>
          <a:p>
            <a:pPr algn="ctr">
              <a:defRPr sz="1800" b="0" i="0">
                <a:solidFill>
                  <a:srgbClr val="1B2A4E"/>
                </a:solidFill>
              </a:defRPr>
            </a:pPr>
            <a:r>
              <a:t>Baseline demo:   huggingface.co/spaces/asabry1233/ai-recommender</a:t>
            </a:r>
          </a:p>
        </p:txBody>
      </p:sp>
      <p:sp>
        <p:nvSpPr>
          <p:cNvPr id="6" name="TextBox 5"/>
          <p:cNvSpPr txBox="1"/>
          <p:nvPr/>
        </p:nvSpPr>
        <p:spPr>
          <a:xfrm>
            <a:off x="457200" y="5303520"/>
            <a:ext cx="11247120" cy="457200"/>
          </a:xfrm>
          <a:prstGeom prst="rect">
            <a:avLst/>
          </a:prstGeom>
          <a:noFill/>
        </p:spPr>
        <p:txBody>
          <a:bodyPr wrap="square">
            <a:spAutoFit/>
          </a:bodyPr>
          <a:lstStyle/>
          <a:p>
            <a:pPr algn="ctr">
              <a:defRPr sz="1400" b="0" i="1">
                <a:solidFill>
                  <a:srgbClr val="555555"/>
                </a:solidFill>
              </a:defRPr>
            </a:pPr>
            <a:r>
              <a:t>Adam Sabry  ·  Rammy Baroudi  ·  Stephen Taylor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